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31.01.2026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大家好，我是CHAN CHEUK HIM (Oscar)。今天我将向大家汇报我在AxTrade为期四周的实习成果、所学所得以及对公司未来发展的一些建议。这份报告旨在全面总结我在金融分销和经纪业务领域的实践经验与思考。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实习为期四周，主要服务于专业客户。第一周我学习了结构化产品，第二周专注于销售策略的制定，第三周深入了解了资产管理凭证（AMCs）和募资，第四周则研究了私募债务业务。我的汇报将按照这个时间线，逐一分享每周的洞察、个人学习心得，并在最后提出综合的发展建议。我们的核心目标是将在产品、销售、AMC和债务领域学到的技能融会贯通，为AxTrade的增长贡献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周，我研究了结构化产品的市场趋势。数据显示，该市场规模同比增长15%，达到1500亿美元。同时，ESG和自动赎回型产品在伦敦证交所的上市量占比高达40%，这反映了市场对可持续投资的偏好。主要发行商如高盛和瑞银分别专注于ETF票据和高收益产品。我认为，在当前关税环境下，与亚洲外汇挂钩的产品存在显著机会。一个核心洞察是，在市场波动加剧的背景下，客户对资本保护的需求日益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第一周，我还分析了具体的产品、客户群体及其相关风险。例如，股票挂钩票据（ELNs）提供股票收益但有本金风险，而双货币存款则在提供外汇收益的同时面临货币贬值风险。私人银行客户主要购买百万美元级别的自动赎回产品，而机构客户则对千万美元级别的通胀票据更感兴趣。分析发现，这些产品的选择往往与特定的使用场景紧密相关，比如对冲地缘政治风险。我的一个重要学习是，在向客户推荐产品时，必须清晰地强调风险，以确保产品的适用性和合规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周，我开始制定销售策略。计划的核心是针对亚洲市场的不同细分领域，并突出我们的AI定价模型能为客户节省5-10个基点的价值主张。我们计划通过数字化渠道、线下活动和合作伙伴关系来触达客户，并制定了分阶段的推出路线图。从表格中可以看到，我们设定了从市场研究到最终实现5000万美元资产管理规模的清晰里程碑。我的核心洞察是，利用我们在特定市场的准入优势，可以建立起关键的竞争壁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客户拓展方面，我们锁定了包括汇丰在内的20个目标客户。拓展过程分为准备、初步联系、跟进和培育四个阶段，每个阶段都有明确的渠道和目标。我们使用了个性化的邮件模板，并借助CRM和HubSpot等工具进行管理。我学到的重要一课是，通过持续提供有价值的信息并保持跟进，才能逐步建立与客户的信任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衡量销售策略的效果，我们设定了明确的关键绩效指标（KPIs），包括20%的转化率、25%的季度资产管理规模增长和超过50的净推荐值（NPS）。我们通过CRM仪表盘实时跟踪这些指标，并通过A/B测试和风险培训等方式进行持续优化。我的洞察是，只有通过数据驱动的决策，才能实现我们设定的20%的业务增长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周，我深入学习了资产管理凭证（AMCs）及其市场定位。AMCs是带有国际证券识别码（ISIN）的主动管理型凭证，与传统结构化产品有所不同。当前的趋势是，AMCs正朝着代币化的方向发展，演变为资产参考代币（ART）以提高流动性。通过分析瑞银（12.5%回报）和万通宝（夏普比率0.75）的产品，我发现AMCs可以作为连接传统金融与区块链替代方案的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参与了一个代币化投资组合的募资计划，目标是从淡马锡等12个投资者那里筹集500万美元的资产管理规模。该计划是推出一款符合欧盟加密资产市场法规（MiCA）的全球宏观资产参考代币（ART），费率为1.5%，采用管理费加业绩报酬的结构。这个产品的一个重要机会在于，它允许投资者以1万美元的最低门槛，实现对股票和大宗商品的部分所有权。我的洞察是，较低的投资门槛极大地提升了产品的可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向投资者进行路演，我们准备了一份单页的投资要点说明，涵盖了策略、费率和资产构成。我进行了三次模拟路演，并根据反馈意见，在材料中增加了风险提示和业绩基准。这次经历让我学到，路演材料必须根据专业投资者的偏好进行定制。一个关键洞察是，符合MiCA法规是我们产品未来向欧洲和亚洲市场扩张的重要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周，我研究了私募债务市场。全球私募债务市场规模已达2万亿美元，其中亚洲市场以15%的速度增长。当前的主要趋势是再融资需求旺盛，平均收益率约为10%。主要参与者包括管理着4500亿美元资产的Ares和专注于香港市场的PAG。通过分析，我发现香港的酒店行业存在显著的私募债务机会，这正是我们可以切入的细分市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对市场的理解，我设计了一个模拟交易方案：为一家香港酒店提供5000万美元的再融资。交易结构为夹层贷款，年收益率12%，期限5年。在条款清单中，我们明确了利率、费用以及风险缓释措施。这次模拟让我认识到，作为经纪商，促成此类交易可以获得约2%的安排费，这是一个非常可观的收入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在私募债务业务中，关系建立至关重要。我的策略是通过行业活动和LinkedIn等渠道，结合提供有价值的市场报告来拓展人脉。目前我已建立了包括Andrew Tan在内的7个关键联系人，并设定了20%的交易转化率目标。我的核心洞察是，长期稳定的人脉网络是驱动业务机会的根本。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四周的实习，我有很多收获。我学会了在路演中必须融入风险考量，利用数据进行策略优化，理解了代币化对提升流动性的作用，并认识到经纪业务能够有效填补市场空白。同时，我也面临一些挑战，比如如何在遵守MiCA和香港交易所等不同地区的合规要求之间取得平衡，以及应对市场波动带来的不确定性。个人能力上，我实现了从单纯的研究分析到制定实际策略的转变。我的最终洞察是，必须不断适应亚洲这个充满活力和变化的金融市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我的实习学习，我为AxTrade提出以下几点增长策略建议：首先，推出针对酒店行业的代币化私募债务产品；其次，开发结合AMC的混合型结构化产品；第三，扩大在香港的经纪业务合作伙伴网络；第四，利用KPI体系强化ESG投资的聚焦度；最后，通过家族办公室渠道，力争实现1亿美元的资产管理规模目标。我预计，这些策略将帮助公司在2026年实现20%的收入增长，并巩固其在亚洲市场的领导地位。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6.svg"/><Relationship Id="rId9" Type="http://schemas.openxmlformats.org/officeDocument/2006/relationships/image" Target="../media/image13.png"/><Relationship Id="rId14"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4.svg"/><Relationship Id="rId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5.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0.svg"/><Relationship Id="rId4" Type="http://schemas.openxmlformats.org/officeDocument/2006/relationships/image" Target="../media/image26.sv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24.svg"/><Relationship Id="rId4" Type="http://schemas.openxmlformats.org/officeDocument/2006/relationships/image" Target="../media/image32.sv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50.svg"/><Relationship Id="rId4" Type="http://schemas.openxmlformats.org/officeDocument/2006/relationships/image" Target="../media/image46.svg"/><Relationship Id="rId9" Type="http://schemas.openxmlformats.org/officeDocument/2006/relationships/image" Target="../media/image49.png"/></Relationships>
</file>

<file path=ppt/slides/_rels/slide8.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39.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52.svg"/><Relationship Id="rId4" Type="http://schemas.openxmlformats.org/officeDocument/2006/relationships/image" Target="../media/image40.svg"/><Relationship Id="rId9" Type="http://schemas.openxmlformats.org/officeDocument/2006/relationships/image" Target="../media/image51.png"/></Relationships>
</file>

<file path=ppt/slides/_rels/slide9.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53.png"/><Relationship Id="rId7" Type="http://schemas.openxmlformats.org/officeDocument/2006/relationships/image" Target="../media/image21.png"/><Relationship Id="rId12"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6.svg"/><Relationship Id="rId11" Type="http://schemas.openxmlformats.org/officeDocument/2006/relationships/image" Target="../media/image23.png"/><Relationship Id="rId5" Type="http://schemas.openxmlformats.org/officeDocument/2006/relationships/image" Target="../media/image55.png"/><Relationship Id="rId10" Type="http://schemas.openxmlformats.org/officeDocument/2006/relationships/image" Target="../media/image4.svg"/><Relationship Id="rId4" Type="http://schemas.openxmlformats.org/officeDocument/2006/relationships/image" Target="../media/image54.svg"/><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39.png"/><Relationship Id="rId7"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50.svg"/><Relationship Id="rId4" Type="http://schemas.openxmlformats.org/officeDocument/2006/relationships/image" Target="../media/image40.svg"/><Relationship Id="rId9" Type="http://schemas.openxmlformats.org/officeDocument/2006/relationships/image" Target="../media/image49.png"/></Relationships>
</file>

<file path=ppt/slides/_rels/slide1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png"/><Relationship Id="rId7" Type="http://schemas.openxmlformats.org/officeDocument/2006/relationships/image" Target="../media/image27.png"/><Relationship Id="rId12" Type="http://schemas.openxmlformats.org/officeDocument/2006/relationships/image" Target="../media/image64.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2.svg"/><Relationship Id="rId11" Type="http://schemas.openxmlformats.org/officeDocument/2006/relationships/image" Target="../media/image63.png"/><Relationship Id="rId5" Type="http://schemas.openxmlformats.org/officeDocument/2006/relationships/image" Target="../media/image61.png"/><Relationship Id="rId10" Type="http://schemas.openxmlformats.org/officeDocument/2006/relationships/image" Target="../media/image24.svg"/><Relationship Id="rId4" Type="http://schemas.openxmlformats.org/officeDocument/2006/relationships/image" Target="../media/image4.sv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19.png"/><Relationship Id="rId7"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4.svg"/><Relationship Id="rId4" Type="http://schemas.openxmlformats.org/officeDocument/2006/relationships/image" Target="../media/image20.sv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23.png"/><Relationship Id="rId3" Type="http://schemas.openxmlformats.org/officeDocument/2006/relationships/image" Target="../media/image33.png"/><Relationship Id="rId7" Type="http://schemas.openxmlformats.org/officeDocument/2006/relationships/image" Target="../media/image71.png"/><Relationship Id="rId12" Type="http://schemas.openxmlformats.org/officeDocument/2006/relationships/image" Target="../media/image76.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70.sv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svg"/><Relationship Id="rId4" Type="http://schemas.openxmlformats.org/officeDocument/2006/relationships/image" Target="../media/image34.svg"/><Relationship Id="rId9" Type="http://schemas.openxmlformats.org/officeDocument/2006/relationships/image" Target="../media/image73.png"/><Relationship Id="rId14" Type="http://schemas.openxmlformats.org/officeDocument/2006/relationships/image" Target="../media/image24.svg"/></Relationships>
</file>

<file path=ppt/slides/_rels/slide14.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78.svg"/><Relationship Id="rId5" Type="http://schemas.openxmlformats.org/officeDocument/2006/relationships/image" Target="../media/image77.png"/><Relationship Id="rId10" Type="http://schemas.openxmlformats.org/officeDocument/2006/relationships/image" Target="../media/image80.svg"/><Relationship Id="rId4" Type="http://schemas.openxmlformats.org/officeDocument/2006/relationships/image" Target="../media/image30.svg"/><Relationship Id="rId9" Type="http://schemas.openxmlformats.org/officeDocument/2006/relationships/image" Target="../media/image79.png"/></Relationships>
</file>

<file path=ppt/slides/_rels/slide1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18.svg"/><Relationship Id="rId18" Type="http://schemas.openxmlformats.org/officeDocument/2006/relationships/image" Target="../media/image86.png"/><Relationship Id="rId3" Type="http://schemas.openxmlformats.org/officeDocument/2006/relationships/image" Target="../media/image81.jpeg"/><Relationship Id="rId7" Type="http://schemas.openxmlformats.org/officeDocument/2006/relationships/image" Target="../media/image83.svg"/><Relationship Id="rId12" Type="http://schemas.openxmlformats.org/officeDocument/2006/relationships/image" Target="../media/image17.png"/><Relationship Id="rId17" Type="http://schemas.openxmlformats.org/officeDocument/2006/relationships/image" Target="../media/image6.svg"/><Relationship Id="rId2" Type="http://schemas.openxmlformats.org/officeDocument/2006/relationships/notesSlide" Target="../notesSlides/notesSlide15.xml"/><Relationship Id="rId16"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82.png"/><Relationship Id="rId11" Type="http://schemas.openxmlformats.org/officeDocument/2006/relationships/image" Target="../media/image85.svg"/><Relationship Id="rId5" Type="http://schemas.openxmlformats.org/officeDocument/2006/relationships/image" Target="../media/image22.svg"/><Relationship Id="rId15" Type="http://schemas.openxmlformats.org/officeDocument/2006/relationships/image" Target="../media/image4.svg"/><Relationship Id="rId10" Type="http://schemas.openxmlformats.org/officeDocument/2006/relationships/image" Target="../media/image84.png"/><Relationship Id="rId19" Type="http://schemas.openxmlformats.org/officeDocument/2006/relationships/image" Target="../media/image87.svg"/><Relationship Id="rId4" Type="http://schemas.openxmlformats.org/officeDocument/2006/relationships/image" Target="../media/image21.png"/><Relationship Id="rId9" Type="http://schemas.openxmlformats.org/officeDocument/2006/relationships/image" Target="../media/image54.svg"/><Relationship Id="rId1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143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254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FFFF"/>
                </a:solidFill>
                <a:latin typeface="Arial"/>
                <a:ea typeface="Arial"/>
                <a:cs typeface="Arial"/>
                <a:sym typeface="Arial"/>
              </a:rPr>
              <a:t>AxTrade Internship Final Presentation</a:t>
            </a:r>
            <a:endParaRPr lang="en-US" sz="1100"/>
          </a:p>
        </p:txBody>
      </p:sp>
      <p:sp>
        <p:nvSpPr>
          <p:cNvPr id="5" name="AutoShape 5"/>
          <p:cNvSpPr/>
          <p:nvPr/>
        </p:nvSpPr>
        <p:spPr>
          <a:xfrm>
            <a:off x="609600" y="1651000"/>
            <a:ext cx="698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Encapsulating Learnings and Growth Recommendations</a:t>
            </a:r>
            <a:endParaRPr lang="en-US" sz="1100"/>
          </a:p>
        </p:txBody>
      </p:sp>
      <p:cxnSp>
        <p:nvCxnSpPr>
          <p:cNvPr id="6" name="Connector 6"/>
          <p:cNvCxnSpPr/>
          <p:nvPr/>
        </p:nvCxnSpPr>
        <p:spPr>
          <a:xfrm rot="-6848">
            <a:off x="609606" y="2406650"/>
            <a:ext cx="6375400" cy="12700"/>
          </a:xfrm>
          <a:prstGeom prst="straightConnector1">
            <a:avLst/>
          </a:prstGeom>
          <a:solidFill>
            <a:srgbClr val="DEE0E3">
              <a:alpha val="100000"/>
            </a:srgbClr>
          </a:solidFill>
          <a:ln w="38100" cap="flat" cmpd="sng">
            <a:solidFill>
              <a:srgbClr val="FFD700">
                <a:alpha val="100000"/>
              </a:srgbClr>
            </a:solidFill>
            <a:prstDash val="solid"/>
            <a:round/>
            <a:headEnd type="none" w="lg" len="lg"/>
            <a:tailEnd type="none" w="lg" len="lg"/>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599" y="3397250"/>
            <a:ext cx="304800" cy="304800"/>
          </a:xfrm>
          <a:prstGeom prst="rect">
            <a:avLst/>
          </a:prstGeom>
        </p:spPr>
      </p:pic>
      <p:sp>
        <p:nvSpPr>
          <p:cNvPr id="8" name="AutoShape 8"/>
          <p:cNvSpPr/>
          <p:nvPr/>
        </p:nvSpPr>
        <p:spPr>
          <a:xfrm>
            <a:off x="1016000" y="2768600"/>
            <a:ext cx="6096000" cy="156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Arial"/>
                <a:ea typeface="Arial"/>
                <a:cs typeface="Arial"/>
                <a:sym typeface="Arial"/>
              </a:rPr>
              <a:t>CHAN CHEUK HIM (Oscar)</a:t>
            </a:r>
            <a:endParaRPr lang="en-US" sz="1100"/>
          </a:p>
        </p:txBody>
      </p:sp>
      <p:sp>
        <p:nvSpPr>
          <p:cNvPr id="11" name="AutoShape 11"/>
          <p:cNvSpPr/>
          <p:nvPr/>
        </p:nvSpPr>
        <p:spPr>
          <a:xfrm>
            <a:off x="8026400" y="1651000"/>
            <a:ext cx="3556000" cy="4064000"/>
          </a:xfrm>
          <a:prstGeom prst="roundRect">
            <a:avLst>
              <a:gd name="adj" fmla="val 3571"/>
            </a:avLst>
          </a:prstGeom>
          <a:solidFill>
            <a:srgbClr val="FFD700">
              <a:alpha val="100000"/>
            </a:srgbClr>
          </a:solidFill>
          <a:ln w="25400" cap="flat" cmpd="sng">
            <a:noFill/>
            <a:prstDash val="solid"/>
            <a:round/>
          </a:ln>
          <a:effectLst>
            <a:outerShdw blurRad="127000" dist="1016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1200" y="1955800"/>
            <a:ext cx="609600" cy="609600"/>
          </a:xfrm>
          <a:prstGeom prst="rect">
            <a:avLst/>
          </a:prstGeom>
        </p:spPr>
      </p:pic>
      <p:sp>
        <p:nvSpPr>
          <p:cNvPr id="13" name="AutoShape 13"/>
          <p:cNvSpPr/>
          <p:nvPr/>
        </p:nvSpPr>
        <p:spPr>
          <a:xfrm>
            <a:off x="8331200" y="2667000"/>
            <a:ext cx="2946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PROGRAM FOCUS</a:t>
            </a:r>
            <a:endParaRPr lang="en-US" sz="1100"/>
          </a:p>
        </p:txBody>
      </p:sp>
      <p:cxnSp>
        <p:nvCxnSpPr>
          <p:cNvPr id="14" name="Connector 14"/>
          <p:cNvCxnSpPr/>
          <p:nvPr/>
        </p:nvCxnSpPr>
        <p:spPr>
          <a:xfrm rot="-14817">
            <a:off x="8331214" y="3105150"/>
            <a:ext cx="29464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15" name="AutoShape 15"/>
          <p:cNvSpPr/>
          <p:nvPr/>
        </p:nvSpPr>
        <p:spPr>
          <a:xfrm>
            <a:off x="8331200" y="3302000"/>
            <a:ext cx="29464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E1E1E"/>
                </a:solidFill>
                <a:latin typeface="Arial"/>
                <a:ea typeface="Arial"/>
                <a:cs typeface="Arial"/>
                <a:sym typeface="Arial"/>
              </a:rPr>
              <a:t>4-Week Program in Finance Distribution and Brokering</a:t>
            </a:r>
            <a:endParaRPr lang="en-US" sz="1100"/>
          </a:p>
          <a:p>
            <a:pPr indent="0" algn="l">
              <a:lnSpc>
                <a:spcPct val="125000"/>
              </a:lnSpc>
            </a:pPr>
            <a:br>
              <a:rPr lang="en-US" sz="1600" b="0" i="0" u="none" strike="noStrike">
                <a:solidFill>
                  <a:srgbClr val="1F2329"/>
                </a:solidFill>
                <a:latin typeface="Arial"/>
                <a:ea typeface="Arial"/>
                <a:cs typeface="Arial"/>
                <a:sym typeface="Arial"/>
              </a:rPr>
            </a:br>
            <a:endParaRPr lang="en-US" sz="1600" b="0" i="0" u="none" strike="noStrike">
              <a:solidFill>
                <a:srgbClr val="1F2329"/>
              </a:solidFill>
              <a:latin typeface="Arial"/>
              <a:ea typeface="Arial"/>
              <a:cs typeface="Arial"/>
              <a:sym typeface="Arial"/>
            </a:endParaRPr>
          </a:p>
          <a:p>
            <a:pPr indent="0" algn="l">
              <a:lnSpc>
                <a:spcPct val="125000"/>
              </a:lnSpc>
            </a:pPr>
            <a:r>
              <a:rPr lang="en-US" sz="1300" b="0" i="0" u="none" strike="noStrike">
                <a:solidFill>
                  <a:srgbClr val="3C3C3C"/>
                </a:solidFill>
                <a:latin typeface="Arial"/>
                <a:ea typeface="Arial"/>
                <a:cs typeface="Arial"/>
                <a:sym typeface="Arial"/>
              </a:rPr>
              <a:t>A comprehensive overview of market dynamics, client relationship management, and trade execution workflows.</a:t>
            </a: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 y="5969000"/>
            <a:ext cx="304800" cy="304800"/>
          </a:xfrm>
          <a:prstGeom prst="rect">
            <a:avLst/>
          </a:prstGeom>
        </p:spPr>
      </p:pic>
      <p:sp>
        <p:nvSpPr>
          <p:cNvPr id="17" name="AutoShape 17"/>
          <p:cNvSpPr/>
          <p:nvPr/>
        </p:nvSpPr>
        <p:spPr>
          <a:xfrm>
            <a:off x="990600" y="5943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AxTrade Capital Ltd</a:t>
            </a:r>
            <a:endParaRPr lang="en-US" sz="1100"/>
          </a:p>
        </p:txBody>
      </p:sp>
      <p:sp>
        <p:nvSpPr>
          <p:cNvPr id="18" name="AutoShape 18"/>
          <p:cNvSpPr/>
          <p:nvPr/>
        </p:nvSpPr>
        <p:spPr>
          <a:xfrm>
            <a:off x="9652000" y="5943600"/>
            <a:ext cx="406400" cy="406400"/>
          </a:xfrm>
          <a:prstGeom prst="ellipse">
            <a:avLst/>
          </a:prstGeom>
          <a:solidFill>
            <a:srgbClr val="FFD7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28200" y="6019800"/>
            <a:ext cx="254000" cy="254000"/>
          </a:xfrm>
          <a:prstGeom prst="rect">
            <a:avLst/>
          </a:prstGeom>
        </p:spPr>
      </p:pic>
      <p:sp>
        <p:nvSpPr>
          <p:cNvPr id="20" name="AutoShape 20"/>
          <p:cNvSpPr/>
          <p:nvPr/>
        </p:nvSpPr>
        <p:spPr>
          <a:xfrm>
            <a:off x="10109200" y="5969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808080"/>
                </a:solidFill>
                <a:latin typeface="Arial"/>
                <a:ea typeface="Arial"/>
                <a:cs typeface="Arial"/>
                <a:sym typeface="Arial"/>
              </a:rPr>
              <a:t>HK Careers</a:t>
            </a:r>
            <a:endParaRPr lang="en-US" sz="1100"/>
          </a:p>
        </p:txBody>
      </p:sp>
      <p:sp>
        <p:nvSpPr>
          <p:cNvPr id="21" name="TextBox 20">
            <a:extLst>
              <a:ext uri="{FF2B5EF4-FFF2-40B4-BE49-F238E27FC236}">
                <a16:creationId xmlns:a16="http://schemas.microsoft.com/office/drawing/2014/main" id="{017B9E06-01BF-7F8C-F292-B094F8F2D15F}"/>
              </a:ext>
            </a:extLst>
          </p:cNvPr>
          <p:cNvSpPr txBox="1"/>
          <p:nvPr/>
        </p:nvSpPr>
        <p:spPr>
          <a:xfrm>
            <a:off x="540621" y="2556073"/>
            <a:ext cx="1828800" cy="307777"/>
          </a:xfrm>
          <a:prstGeom prst="rect">
            <a:avLst/>
          </a:prstGeom>
          <a:noFill/>
        </p:spPr>
        <p:txBody>
          <a:bodyPr wrap="square" rtlCol="0">
            <a:spAutoFit/>
          </a:bodyPr>
          <a:lstStyle/>
          <a:p>
            <a:pPr algn="l"/>
            <a:r>
              <a:rPr lang="en-GB" dirty="0"/>
              <a:t>Task 4</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Agenda and Internship Structure</a:t>
            </a:r>
            <a:endParaRPr lang="en-US" sz="1100"/>
          </a:p>
        </p:txBody>
      </p:sp>
      <p:sp>
        <p:nvSpPr>
          <p:cNvPr id="5" name="AutoShape 5"/>
          <p:cNvSpPr/>
          <p:nvPr/>
        </p:nvSpPr>
        <p:spPr>
          <a:xfrm>
            <a:off x="508000" y="1397000"/>
            <a:ext cx="7620000" cy="4826000"/>
          </a:xfrm>
          <a:prstGeom prst="roundRect">
            <a:avLst>
              <a:gd name="adj" fmla="val 2631"/>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651000"/>
            <a:ext cx="406400" cy="406400"/>
          </a:xfrm>
          <a:prstGeom prst="rect">
            <a:avLst/>
          </a:prstGeom>
        </p:spPr>
      </p:pic>
      <p:sp>
        <p:nvSpPr>
          <p:cNvPr id="7" name="AutoShape 7"/>
          <p:cNvSpPr/>
          <p:nvPr/>
        </p:nvSpPr>
        <p:spPr>
          <a:xfrm>
            <a:off x="1270000" y="1625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03366"/>
                </a:solidFill>
                <a:latin typeface="Arial"/>
                <a:ea typeface="Arial"/>
                <a:cs typeface="Arial"/>
                <a:sym typeface="Arial"/>
              </a:rPr>
              <a:t>Overview: 4 Weeks at AxTrade </a:t>
            </a:r>
            <a:endParaRPr lang="en-GB" sz="1600" b="1" dirty="0">
              <a:solidFill>
                <a:srgbClr val="003366"/>
              </a:solidFill>
            </a:endParaRPr>
          </a:p>
          <a:p>
            <a:pPr indent="0" algn="l">
              <a:lnSpc>
                <a:spcPct val="125000"/>
              </a:lnSpc>
              <a:defRPr/>
            </a:pPr>
            <a:r>
              <a:rPr lang="en-US" sz="1400" b="0" i="0" u="none" strike="noStrike" dirty="0">
                <a:solidFill>
                  <a:srgbClr val="505050"/>
                </a:solidFill>
                <a:latin typeface="Arial"/>
                <a:ea typeface="Arial"/>
                <a:cs typeface="Arial"/>
                <a:sym typeface="Arial"/>
              </a:rPr>
              <a:t>Focusing on professional clients and cross-departmental exposure.</a:t>
            </a:r>
          </a:p>
        </p:txBody>
      </p:sp>
      <p:cxnSp>
        <p:nvCxnSpPr>
          <p:cNvPr id="8" name="Connector 8"/>
          <p:cNvCxnSpPr/>
          <p:nvPr/>
        </p:nvCxnSpPr>
        <p:spPr>
          <a:xfrm rot="-6138">
            <a:off x="762006" y="2279650"/>
            <a:ext cx="711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2413000"/>
            <a:ext cx="406400" cy="406400"/>
          </a:xfrm>
          <a:prstGeom prst="rect">
            <a:avLst/>
          </a:prstGeom>
        </p:spPr>
      </p:pic>
      <p:sp>
        <p:nvSpPr>
          <p:cNvPr id="10" name="AutoShape 10"/>
          <p:cNvSpPr/>
          <p:nvPr/>
        </p:nvSpPr>
        <p:spPr>
          <a:xfrm>
            <a:off x="1270000" y="2387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Week 1: Structured Products</a:t>
            </a:r>
            <a:endParaRPr lang="en-US" sz="1100"/>
          </a:p>
          <a:p>
            <a:pPr indent="0" algn="l">
              <a:lnSpc>
                <a:spcPct val="125000"/>
              </a:lnSpc>
            </a:pPr>
            <a:r>
              <a:rPr lang="en-US" sz="1400" b="0" i="0" u="none" strike="noStrike">
                <a:solidFill>
                  <a:srgbClr val="505050"/>
                </a:solidFill>
                <a:latin typeface="Arial"/>
                <a:ea typeface="Arial"/>
                <a:cs typeface="Arial"/>
                <a:sym typeface="Arial"/>
              </a:rPr>
              <a:t>Deep dive into product mechanics and market positioning.</a:t>
            </a:r>
          </a:p>
        </p:txBody>
      </p:sp>
      <p:cxnSp>
        <p:nvCxnSpPr>
          <p:cNvPr id="11" name="Connector 11"/>
          <p:cNvCxnSpPr/>
          <p:nvPr/>
        </p:nvCxnSpPr>
        <p:spPr>
          <a:xfrm rot="-6138">
            <a:off x="762006" y="3041650"/>
            <a:ext cx="711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175000"/>
            <a:ext cx="406400" cy="406400"/>
          </a:xfrm>
          <a:prstGeom prst="rect">
            <a:avLst/>
          </a:prstGeom>
        </p:spPr>
      </p:pic>
      <p:sp>
        <p:nvSpPr>
          <p:cNvPr id="13" name="AutoShape 13"/>
          <p:cNvSpPr/>
          <p:nvPr/>
        </p:nvSpPr>
        <p:spPr>
          <a:xfrm>
            <a:off x="1270000" y="3149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Week 2: Sales Strategy</a:t>
            </a:r>
            <a:endParaRPr lang="en-US" sz="1100"/>
          </a:p>
          <a:p>
            <a:pPr indent="0" algn="l">
              <a:lnSpc>
                <a:spcPct val="125000"/>
              </a:lnSpc>
            </a:pPr>
            <a:r>
              <a:rPr lang="en-US" sz="1400" b="0" i="0" u="none" strike="noStrike">
                <a:solidFill>
                  <a:srgbClr val="505050"/>
                </a:solidFill>
                <a:latin typeface="Arial"/>
                <a:ea typeface="Arial"/>
                <a:cs typeface="Arial"/>
                <a:sym typeface="Arial"/>
              </a:rPr>
              <a:t>Developing client engagement strategies and pipeline management.</a:t>
            </a:r>
          </a:p>
        </p:txBody>
      </p:sp>
      <p:cxnSp>
        <p:nvCxnSpPr>
          <p:cNvPr id="14" name="Connector 14"/>
          <p:cNvCxnSpPr/>
          <p:nvPr/>
        </p:nvCxnSpPr>
        <p:spPr>
          <a:xfrm rot="-6138">
            <a:off x="762006" y="3803650"/>
            <a:ext cx="711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 y="3937000"/>
            <a:ext cx="406400" cy="406400"/>
          </a:xfrm>
          <a:prstGeom prst="rect">
            <a:avLst/>
          </a:prstGeom>
        </p:spPr>
      </p:pic>
      <p:sp>
        <p:nvSpPr>
          <p:cNvPr id="16" name="AutoShape 16"/>
          <p:cNvSpPr/>
          <p:nvPr/>
        </p:nvSpPr>
        <p:spPr>
          <a:xfrm>
            <a:off x="1270000" y="3911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Week 3: AMCs &amp; Fundraising</a:t>
            </a:r>
            <a:endParaRPr lang="en-US" sz="1100"/>
          </a:p>
          <a:p>
            <a:pPr indent="0" algn="l">
              <a:lnSpc>
                <a:spcPct val="125000"/>
              </a:lnSpc>
            </a:pPr>
            <a:r>
              <a:rPr lang="en-US" sz="1400" b="0" i="0" u="none" strike="noStrike">
                <a:solidFill>
                  <a:srgbClr val="505050"/>
                </a:solidFill>
                <a:latin typeface="Arial"/>
                <a:ea typeface="Arial"/>
                <a:cs typeface="Arial"/>
                <a:sym typeface="Arial"/>
              </a:rPr>
              <a:t>Understanding Asset Management Companies and capital raising.</a:t>
            </a:r>
          </a:p>
        </p:txBody>
      </p:sp>
      <p:cxnSp>
        <p:nvCxnSpPr>
          <p:cNvPr id="17" name="Connector 17"/>
          <p:cNvCxnSpPr/>
          <p:nvPr/>
        </p:nvCxnSpPr>
        <p:spPr>
          <a:xfrm rot="-6138">
            <a:off x="762006" y="4565650"/>
            <a:ext cx="711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2000" y="4699000"/>
            <a:ext cx="406400" cy="406400"/>
          </a:xfrm>
          <a:prstGeom prst="rect">
            <a:avLst/>
          </a:prstGeom>
        </p:spPr>
      </p:pic>
      <p:sp>
        <p:nvSpPr>
          <p:cNvPr id="19" name="AutoShape 19"/>
          <p:cNvSpPr/>
          <p:nvPr/>
        </p:nvSpPr>
        <p:spPr>
          <a:xfrm>
            <a:off x="1270000" y="4673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03366"/>
                </a:solidFill>
                <a:latin typeface="Arial"/>
                <a:ea typeface="Arial"/>
                <a:cs typeface="Arial"/>
                <a:sym typeface="Arial"/>
              </a:rPr>
              <a:t>Week 4: </a:t>
            </a:r>
            <a:r>
              <a:rPr lang="en-GB" sz="1600" b="1" i="0" u="none" strike="noStrike" dirty="0">
                <a:solidFill>
                  <a:srgbClr val="003366"/>
                </a:solidFill>
                <a:latin typeface="Arial"/>
                <a:ea typeface="Arial"/>
                <a:cs typeface="Arial"/>
                <a:sym typeface="Arial"/>
              </a:rPr>
              <a:t>Brokering and </a:t>
            </a:r>
            <a:r>
              <a:rPr lang="en-US" sz="1600" b="1" i="0" u="none" strike="noStrike" dirty="0">
                <a:solidFill>
                  <a:srgbClr val="003366"/>
                </a:solidFill>
                <a:latin typeface="Arial"/>
                <a:ea typeface="Arial"/>
                <a:cs typeface="Arial"/>
                <a:sym typeface="Arial"/>
              </a:rPr>
              <a:t>Private Debt</a:t>
            </a:r>
            <a:endParaRPr lang="en-US" sz="1100" dirty="0"/>
          </a:p>
          <a:p>
            <a:pPr indent="0" algn="l">
              <a:lnSpc>
                <a:spcPct val="125000"/>
              </a:lnSpc>
            </a:pPr>
            <a:r>
              <a:rPr lang="en-US" sz="1400" b="0" i="0" u="none" strike="noStrike" dirty="0">
                <a:solidFill>
                  <a:srgbClr val="505050"/>
                </a:solidFill>
                <a:latin typeface="Arial"/>
                <a:ea typeface="Arial"/>
                <a:cs typeface="Arial"/>
                <a:sym typeface="Arial"/>
              </a:rPr>
              <a:t>Analyzing private debt instruments and investment opportunities.</a:t>
            </a:r>
          </a:p>
        </p:txBody>
      </p:sp>
      <p:sp>
        <p:nvSpPr>
          <p:cNvPr id="20" name="AutoShape 20"/>
          <p:cNvSpPr/>
          <p:nvPr/>
        </p:nvSpPr>
        <p:spPr>
          <a:xfrm>
            <a:off x="8382000" y="1397000"/>
            <a:ext cx="3302000" cy="4826000"/>
          </a:xfrm>
          <a:prstGeom prst="roundRect">
            <a:avLst>
              <a:gd name="adj" fmla="val 3846"/>
            </a:avLst>
          </a:prstGeom>
          <a:solidFill>
            <a:srgbClr val="FFD700">
              <a:alpha val="100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36000" y="1651000"/>
            <a:ext cx="609600" cy="609600"/>
          </a:xfrm>
          <a:prstGeom prst="rect">
            <a:avLst/>
          </a:prstGeom>
        </p:spPr>
      </p:pic>
      <p:sp>
        <p:nvSpPr>
          <p:cNvPr id="22" name="AutoShape 22"/>
          <p:cNvSpPr/>
          <p:nvPr/>
        </p:nvSpPr>
        <p:spPr>
          <a:xfrm>
            <a:off x="8636000" y="2286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CORE GOAL</a:t>
            </a:r>
            <a:endParaRPr lang="en-US" sz="1100"/>
          </a:p>
        </p:txBody>
      </p:sp>
      <p:cxnSp>
        <p:nvCxnSpPr>
          <p:cNvPr id="23" name="Connector 23"/>
          <p:cNvCxnSpPr/>
          <p:nvPr/>
        </p:nvCxnSpPr>
        <p:spPr>
          <a:xfrm rot="-17188">
            <a:off x="8636016" y="2787650"/>
            <a:ext cx="2540000" cy="12700"/>
          </a:xfrm>
          <a:prstGeom prst="straightConnector1">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24" name="AutoShape 24"/>
          <p:cNvSpPr/>
          <p:nvPr/>
        </p:nvSpPr>
        <p:spPr>
          <a:xfrm>
            <a:off x="8636000" y="29845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E1E1E"/>
                </a:solidFill>
                <a:latin typeface="Arial"/>
                <a:ea typeface="Arial"/>
                <a:cs typeface="Arial"/>
                <a:sym typeface="Arial"/>
              </a:rPr>
              <a:t>Synthesize &amp; Contribute</a:t>
            </a:r>
            <a:endParaRPr lang="en-US" sz="1100"/>
          </a:p>
          <a:p>
            <a:pPr indent="0" algn="l">
              <a:lnSpc>
                <a:spcPct val="125000"/>
              </a:lnSpc>
            </a:pPr>
            <a:r>
              <a:rPr lang="en-US" sz="1400" b="0" i="0" u="none" strike="noStrike">
                <a:solidFill>
                  <a:srgbClr val="3C3C3C"/>
                </a:solidFill>
                <a:latin typeface="Arial"/>
                <a:ea typeface="Arial"/>
                <a:cs typeface="Arial"/>
                <a:sym typeface="Arial"/>
              </a:rPr>
              <a:t>Integrate acquired skills in products, sales, AMCs, and debt to drive strategic growth for AxTrade.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Week 1: Structured Products Market Insights</a:t>
            </a:r>
            <a:endParaRPr lang="en-US" sz="1100"/>
          </a:p>
        </p:txBody>
      </p:sp>
      <p:sp>
        <p:nvSpPr>
          <p:cNvPr id="5" name="AutoShape 5"/>
          <p:cNvSpPr/>
          <p:nvPr/>
        </p:nvSpPr>
        <p:spPr>
          <a:xfrm>
            <a:off x="381000" y="1270000"/>
            <a:ext cx="7366000" cy="5334000"/>
          </a:xfrm>
          <a:prstGeom prst="roundRect">
            <a:avLst>
              <a:gd name="adj" fmla="val 2380"/>
            </a:avLst>
          </a:prstGeom>
          <a:solidFill>
            <a:srgbClr val="FFFFFF">
              <a:alpha val="95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 y="1524000"/>
            <a:ext cx="304800" cy="304800"/>
          </a:xfrm>
          <a:prstGeom prst="rect">
            <a:avLst/>
          </a:prstGeom>
        </p:spPr>
      </p:pic>
      <p:sp>
        <p:nvSpPr>
          <p:cNvPr id="7" name="AutoShape 7"/>
          <p:cNvSpPr/>
          <p:nvPr/>
        </p:nvSpPr>
        <p:spPr>
          <a:xfrm>
            <a:off x="1016000" y="1498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Market Trends</a:t>
            </a:r>
            <a:endParaRPr lang="en-US" sz="1100"/>
          </a:p>
          <a:p>
            <a:pPr indent="0" algn="l">
              <a:lnSpc>
                <a:spcPct val="125000"/>
              </a:lnSpc>
            </a:pPr>
            <a:r>
              <a:rPr lang="en-US" sz="1400" b="0" i="0" u="none" strike="noStrike">
                <a:solidFill>
                  <a:srgbClr val="505050"/>
                </a:solidFill>
                <a:latin typeface="Arial"/>
                <a:ea typeface="Arial"/>
                <a:cs typeface="Arial"/>
                <a:sym typeface="Arial"/>
              </a:rPr>
              <a:t>15% YoY growth to $150B (Bloomberg 2026); 40% ESG/Autocallables listings (LSE).</a:t>
            </a: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2222500"/>
            <a:ext cx="304800" cy="304800"/>
          </a:xfrm>
          <a:prstGeom prst="rect">
            <a:avLst/>
          </a:prstGeom>
        </p:spPr>
      </p:pic>
      <p:sp>
        <p:nvSpPr>
          <p:cNvPr id="9" name="AutoShape 9"/>
          <p:cNvSpPr/>
          <p:nvPr/>
        </p:nvSpPr>
        <p:spPr>
          <a:xfrm>
            <a:off x="1016000" y="21971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Key Issuers</a:t>
            </a:r>
            <a:endParaRPr lang="en-US" sz="1100"/>
          </a:p>
          <a:p>
            <a:pPr indent="0" algn="l">
              <a:lnSpc>
                <a:spcPct val="125000"/>
              </a:lnSpc>
            </a:pPr>
            <a:r>
              <a:rPr lang="en-US" sz="1400" b="0" i="0" u="none" strike="noStrike">
                <a:solidFill>
                  <a:srgbClr val="505050"/>
                </a:solidFill>
                <a:latin typeface="Arial"/>
                <a:ea typeface="Arial"/>
                <a:cs typeface="Arial"/>
                <a:sym typeface="Arial"/>
              </a:rPr>
              <a:t>Goldman Sachs (ETF notes) &amp; UBS (yield products) leading the market.</a:t>
            </a: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 y="2921000"/>
            <a:ext cx="304800" cy="304800"/>
          </a:xfrm>
          <a:prstGeom prst="rect">
            <a:avLst/>
          </a:prstGeom>
        </p:spPr>
      </p:pic>
      <p:sp>
        <p:nvSpPr>
          <p:cNvPr id="11" name="AutoShape 11"/>
          <p:cNvSpPr/>
          <p:nvPr/>
        </p:nvSpPr>
        <p:spPr>
          <a:xfrm>
            <a:off x="1016000" y="2895600"/>
            <a:ext cx="660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Strategic Opportunities</a:t>
            </a:r>
            <a:endParaRPr lang="en-US" sz="1100"/>
          </a:p>
          <a:p>
            <a:pPr indent="0" algn="l">
              <a:lnSpc>
                <a:spcPct val="125000"/>
              </a:lnSpc>
            </a:pPr>
            <a:r>
              <a:rPr lang="en-US" sz="1400" b="0" i="0" u="none" strike="noStrike">
                <a:solidFill>
                  <a:srgbClr val="505050"/>
                </a:solidFill>
                <a:latin typeface="Arial"/>
                <a:ea typeface="Arial"/>
                <a:cs typeface="Arial"/>
                <a:sym typeface="Arial"/>
              </a:rPr>
              <a:t>Asia FX-linked products emerging as a hedge amid geopolitical tariffs.</a:t>
            </a:r>
          </a:p>
        </p:txBody>
      </p:sp>
      <p:cxnSp>
        <p:nvCxnSpPr>
          <p:cNvPr id="12" name="Connector 12"/>
          <p:cNvCxnSpPr/>
          <p:nvPr/>
        </p:nvCxnSpPr>
        <p:spPr>
          <a:xfrm rot="-6366">
            <a:off x="635006" y="3549650"/>
            <a:ext cx="685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3" name="AutoShape 13"/>
          <p:cNvSpPr/>
          <p:nvPr/>
        </p:nvSpPr>
        <p:spPr>
          <a:xfrm>
            <a:off x="635000" y="3683000"/>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Detailed Market Analysis</a:t>
            </a:r>
            <a:endParaRPr lang="en-US" sz="1100"/>
          </a:p>
        </p:txBody>
      </p:sp>
      <p:graphicFrame>
        <p:nvGraphicFramePr>
          <p:cNvPr id="14" name="Table 14"/>
          <p:cNvGraphicFramePr>
            <a:graphicFrameLocks noGrp="1"/>
          </p:cNvGraphicFramePr>
          <p:nvPr/>
        </p:nvGraphicFramePr>
        <p:xfrm>
          <a:off x="635000" y="4064000"/>
          <a:ext cx="6858000" cy="197104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540000">
                  <a:extLst>
                    <a:ext uri="{9D8B030D-6E8A-4147-A177-3AD203B41FA5}">
                      <a16:colId xmlns:a16="http://schemas.microsoft.com/office/drawing/2014/main" val="20002"/>
                    </a:ext>
                  </a:extLst>
                </a:gridCol>
              </a:tblGrid>
              <a:tr h="4572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Trend</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Source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Impact</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457200">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15% YoY Growth</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Bloomberg 2026</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Increased market activity</a:t>
                      </a:r>
                      <a:endParaRPr lang="en-US" sz="1100"/>
                    </a:p>
                  </a:txBody>
                  <a:tcPr marL="101600" marR="101600" marT="101600" marB="101600" anchor="ctr">
                    <a:lnL>
                      <a:noFill/>
                    </a:lnL>
                    <a:lnR>
                      <a:noFill/>
                    </a:lnR>
                    <a:lnT>
                      <a:noFill/>
                    </a:lnT>
                    <a:lnB>
                      <a:noFill/>
                    </a:lnB>
                    <a:solidFill>
                      <a:srgbClr val="F0F5FA">
                        <a:alpha val="100000"/>
                      </a:srgbClr>
                    </a:solidFill>
                  </a:tcPr>
                </a:tc>
                <a:extLst>
                  <a:ext uri="{0D108BD9-81ED-4DB2-BD59-A6C34878D82A}">
                    <a16:rowId xmlns:a16="http://schemas.microsoft.com/office/drawing/2014/main" val="10001"/>
                  </a:ext>
                </a:extLst>
              </a:tr>
              <a:tr h="457200">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40% ESG/Autocallables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LSE</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Shift to sustainable investing</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457200">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Asia FX-linked Demand</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Market Analysis</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l">
                        <a:lnSpc>
                          <a:spcPct val="100000"/>
                        </a:lnSpc>
                        <a:defRPr/>
                      </a:pPr>
                      <a:r>
                        <a:rPr lang="en-US" sz="1300" b="0" i="0" u="none" strike="noStrike">
                          <a:solidFill>
                            <a:srgbClr val="323232"/>
                          </a:solidFill>
                          <a:latin typeface="Noto Sans SC"/>
                          <a:ea typeface="Noto Sans SC"/>
                          <a:cs typeface="Noto Sans SC"/>
                          <a:sym typeface="Noto Sans SC"/>
                        </a:rPr>
                        <a:t>Opportunity in geopolitical hedging</a:t>
                      </a:r>
                      <a:endParaRPr lang="en-US" sz="1100"/>
                    </a:p>
                  </a:txBody>
                  <a:tcPr marL="101600" marR="101600" marT="101600" marB="101600" anchor="ctr">
                    <a:lnL>
                      <a:noFill/>
                    </a:lnL>
                    <a:lnR>
                      <a:noFill/>
                    </a:lnR>
                    <a:lnT>
                      <a:noFill/>
                    </a:lnT>
                    <a:lnB>
                      <a:noFill/>
                    </a:lnB>
                    <a:solidFill>
                      <a:srgbClr val="F0F5FA">
                        <a:alpha val="100000"/>
                      </a:srgbClr>
                    </a:solidFill>
                  </a:tcPr>
                </a:tc>
                <a:extLst>
                  <a:ext uri="{0D108BD9-81ED-4DB2-BD59-A6C34878D82A}">
                    <a16:rowId xmlns:a16="http://schemas.microsoft.com/office/drawing/2014/main" val="10003"/>
                  </a:ext>
                </a:extLst>
              </a:tr>
            </a:tbl>
          </a:graphicData>
        </a:graphic>
      </p:graphicFrame>
      <p:sp>
        <p:nvSpPr>
          <p:cNvPr id="15" name="AutoShape 15"/>
          <p:cNvSpPr/>
          <p:nvPr/>
        </p:nvSpPr>
        <p:spPr>
          <a:xfrm>
            <a:off x="8001000" y="1270000"/>
            <a:ext cx="3810000" cy="5334000"/>
          </a:xfrm>
          <a:prstGeom prst="roundRect">
            <a:avLst>
              <a:gd name="adj" fmla="val 3333"/>
            </a:avLst>
          </a:prstGeom>
          <a:solidFill>
            <a:srgbClr val="FFD700">
              <a:alpha val="100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5000" y="1651000"/>
            <a:ext cx="609600" cy="609600"/>
          </a:xfrm>
          <a:prstGeom prst="rect">
            <a:avLst/>
          </a:prstGeom>
        </p:spPr>
      </p:pic>
      <p:sp>
        <p:nvSpPr>
          <p:cNvPr id="17" name="AutoShape 17"/>
          <p:cNvSpPr/>
          <p:nvPr/>
        </p:nvSpPr>
        <p:spPr>
          <a:xfrm>
            <a:off x="8255000" y="2413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Insight</a:t>
            </a:r>
            <a:endParaRPr lang="en-US" sz="1100"/>
          </a:p>
        </p:txBody>
      </p:sp>
      <p:cxnSp>
        <p:nvCxnSpPr>
          <p:cNvPr id="18" name="Connector 18"/>
          <p:cNvCxnSpPr/>
          <p:nvPr/>
        </p:nvCxnSpPr>
        <p:spPr>
          <a:xfrm rot="-14323">
            <a:off x="8255013" y="2978150"/>
            <a:ext cx="3048000" cy="12700"/>
          </a:xfrm>
          <a:prstGeom prst="straightConnector1">
            <a:avLst/>
          </a:prstGeom>
          <a:solidFill>
            <a:srgbClr val="DEE0E3">
              <a:alpha val="100000"/>
            </a:srgbClr>
          </a:solidFill>
          <a:ln w="25400" cap="flat" cmpd="sng">
            <a:solidFill>
              <a:srgbClr val="003366">
                <a:alpha val="30000"/>
              </a:srgbClr>
            </a:solidFill>
            <a:prstDash val="solid"/>
            <a:round/>
            <a:headEnd type="none" w="lg" len="lg"/>
            <a:tailEnd type="none" w="lg" len="lg"/>
          </a:ln>
        </p:spPr>
      </p:cxnSp>
      <p:sp>
        <p:nvSpPr>
          <p:cNvPr id="19" name="AutoShape 19"/>
          <p:cNvSpPr/>
          <p:nvPr/>
        </p:nvSpPr>
        <p:spPr>
          <a:xfrm>
            <a:off x="8255000" y="3175000"/>
            <a:ext cx="3302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23232"/>
                </a:solidFill>
                <a:latin typeface="Arial"/>
                <a:ea typeface="Arial"/>
                <a:cs typeface="Arial"/>
                <a:sym typeface="Arial"/>
              </a:rPr>
              <a:t>Amidst increasing market volatility, there is a</a:t>
            </a:r>
            <a:r>
              <a:rPr lang="en-GB" sz="1600" b="0" i="0" u="none" strike="noStrike" dirty="0">
                <a:solidFill>
                  <a:srgbClr val="323232"/>
                </a:solidFill>
                <a:latin typeface="Arial"/>
                <a:ea typeface="Arial"/>
                <a:cs typeface="Arial"/>
                <a:sym typeface="Arial"/>
              </a:rPr>
              <a:t> </a:t>
            </a:r>
            <a:r>
              <a:rPr lang="en-US" sz="1600" b="1" i="0" u="none" strike="noStrike" dirty="0">
                <a:solidFill>
                  <a:srgbClr val="003366"/>
                </a:solidFill>
                <a:latin typeface="Arial"/>
                <a:ea typeface="Arial"/>
                <a:cs typeface="Arial"/>
                <a:sym typeface="Arial"/>
              </a:rPr>
              <a:t>significant rise in demand for capital protection</a:t>
            </a:r>
            <a:r>
              <a:rPr lang="en-GB" sz="1600" b="1" i="0" u="none" strike="noStrike" dirty="0">
                <a:solidFill>
                  <a:srgbClr val="003366"/>
                </a:solidFill>
                <a:latin typeface="Arial"/>
                <a:ea typeface="Arial"/>
                <a:cs typeface="Arial"/>
                <a:sym typeface="Arial"/>
              </a:rPr>
              <a:t> </a:t>
            </a:r>
            <a:r>
              <a:rPr lang="en-US" sz="1600" b="0" i="0" u="none" strike="noStrike" dirty="0">
                <a:solidFill>
                  <a:srgbClr val="323232"/>
                </a:solidFill>
                <a:latin typeface="Arial"/>
                <a:ea typeface="Arial"/>
                <a:cs typeface="Arial"/>
                <a:sym typeface="Arial"/>
              </a:rPr>
              <a:t>features within structured products.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889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Arial"/>
                <a:ea typeface="Arial"/>
                <a:cs typeface="Arial"/>
                <a:sym typeface="Arial"/>
              </a:rPr>
              <a:t>Week 1: Products, Clients, and Risks</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1206500"/>
            <a:ext cx="304800" cy="304800"/>
          </a:xfrm>
          <a:prstGeom prst="rect">
            <a:avLst/>
          </a:prstGeom>
        </p:spPr>
      </p:pic>
      <p:sp>
        <p:nvSpPr>
          <p:cNvPr id="6" name="AutoShape 6"/>
          <p:cNvSpPr/>
          <p:nvPr/>
        </p:nvSpPr>
        <p:spPr>
          <a:xfrm>
            <a:off x="762000" y="1168400"/>
            <a:ext cx="711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Products</a:t>
            </a:r>
            <a:endParaRPr lang="en-US" sz="1100"/>
          </a:p>
          <a:p>
            <a:pPr indent="0" algn="l">
              <a:lnSpc>
                <a:spcPct val="125000"/>
              </a:lnSpc>
            </a:pPr>
            <a:r>
              <a:rPr lang="en-US" sz="1300" b="0" i="0" u="none" strike="noStrike">
                <a:solidFill>
                  <a:srgbClr val="505050"/>
                </a:solidFill>
                <a:latin typeface="Arial"/>
                <a:ea typeface="Arial"/>
                <a:cs typeface="Arial"/>
                <a:sym typeface="Arial"/>
              </a:rPr>
              <a:t>ELNs (Equity returns, Principal risks) &amp; Dual Deposits (FX yield, Depreciation risks)</a:t>
            </a: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1968500"/>
            <a:ext cx="304800" cy="304800"/>
          </a:xfrm>
          <a:prstGeom prst="rect">
            <a:avLst/>
          </a:prstGeom>
        </p:spPr>
      </p:pic>
      <p:sp>
        <p:nvSpPr>
          <p:cNvPr id="8" name="AutoShape 8"/>
          <p:cNvSpPr/>
          <p:nvPr/>
        </p:nvSpPr>
        <p:spPr>
          <a:xfrm>
            <a:off x="762000" y="1930400"/>
            <a:ext cx="711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Clients</a:t>
            </a:r>
            <a:endParaRPr lang="en-US" sz="1100"/>
          </a:p>
          <a:p>
            <a:pPr indent="0" algn="l">
              <a:lnSpc>
                <a:spcPct val="125000"/>
              </a:lnSpc>
            </a:pPr>
            <a:r>
              <a:rPr lang="en-US" sz="1300" b="0" i="0" u="none" strike="noStrike">
                <a:solidFill>
                  <a:srgbClr val="505050"/>
                </a:solidFill>
                <a:latin typeface="Arial"/>
                <a:ea typeface="Arial"/>
                <a:cs typeface="Arial"/>
                <a:sym typeface="Arial"/>
              </a:rPr>
              <a:t>Private Banks ($1M+ Autocallables) &amp; Institutions ($10M+ Inflation notes)</a:t>
            </a:r>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1000" y="2730500"/>
            <a:ext cx="304800" cy="304800"/>
          </a:xfrm>
          <a:prstGeom prst="rect">
            <a:avLst/>
          </a:prstGeom>
        </p:spPr>
      </p:pic>
      <p:sp>
        <p:nvSpPr>
          <p:cNvPr id="10" name="AutoShape 10"/>
          <p:cNvSpPr/>
          <p:nvPr/>
        </p:nvSpPr>
        <p:spPr>
          <a:xfrm>
            <a:off x="762000" y="2692400"/>
            <a:ext cx="711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Analysis</a:t>
            </a:r>
            <a:endParaRPr lang="en-US" sz="1100"/>
          </a:p>
          <a:p>
            <a:pPr indent="0" algn="l">
              <a:lnSpc>
                <a:spcPct val="125000"/>
              </a:lnSpc>
            </a:pPr>
            <a:r>
              <a:rPr lang="en-US" sz="1300" b="0" i="0" u="none" strike="noStrike">
                <a:solidFill>
                  <a:srgbClr val="505050"/>
                </a:solidFill>
                <a:latin typeface="Arial"/>
                <a:ea typeface="Arial"/>
                <a:cs typeface="Arial"/>
                <a:sym typeface="Arial"/>
              </a:rPr>
              <a:t>Tie to specific use cases (e.g., hedging geopolitical risks)</a:t>
            </a:r>
          </a:p>
        </p:txBody>
      </p:sp>
      <p:graphicFrame>
        <p:nvGraphicFramePr>
          <p:cNvPr id="11" name="Table 11"/>
          <p:cNvGraphicFramePr>
            <a:graphicFrameLocks noGrp="1"/>
          </p:cNvGraphicFramePr>
          <p:nvPr/>
        </p:nvGraphicFramePr>
        <p:xfrm>
          <a:off x="381000" y="3429000"/>
          <a:ext cx="7493000" cy="222250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44500">
                <a:tc>
                  <a:txBody>
                    <a:bodyPr/>
                    <a:lstStyle/>
                    <a:p>
                      <a:pPr indent="0" algn="ctr">
                        <a:lnSpc>
                          <a:spcPct val="100000"/>
                        </a:lnSpc>
                        <a:defRPr/>
                      </a:pPr>
                      <a:r>
                        <a:rPr lang="en-US" sz="1400" b="1" i="0" u="none" strike="noStrike">
                          <a:solidFill>
                            <a:srgbClr val="FFFFFF"/>
                          </a:solidFill>
                          <a:latin typeface="Arial"/>
                          <a:ea typeface="Arial"/>
                          <a:cs typeface="Arial"/>
                          <a:sym typeface="Arial"/>
                        </a:rPr>
                        <a:t>Client Segment</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Arial"/>
                          <a:ea typeface="Arial"/>
                          <a:cs typeface="Arial"/>
                          <a:sym typeface="Arial"/>
                        </a:rPr>
                        <a:t>Product</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Arial"/>
                          <a:ea typeface="Arial"/>
                          <a:cs typeface="Arial"/>
                          <a:sym typeface="Arial"/>
                        </a:rPr>
                        <a:t>Risk Linkage</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300" b="0" i="0" u="none" strike="noStrike">
                          <a:solidFill>
                            <a:srgbClr val="323232"/>
                          </a:solidFill>
                          <a:latin typeface="Arial"/>
                          <a:ea typeface="Arial"/>
                          <a:cs typeface="Arial"/>
                          <a:sym typeface="Arial"/>
                        </a:rPr>
                        <a:t>Private Banks</a:t>
                      </a:r>
                      <a:endParaRPr lang="en-US" sz="1100"/>
                    </a:p>
                  </a:txBody>
                  <a:tcPr marL="101600" marR="101600" marT="101600" marB="101600" anchor="ctr">
                    <a:lnL>
                      <a:noFill/>
                    </a:lnL>
                    <a:lnR>
                      <a:noFill/>
                    </a:lnR>
                    <a:lnT>
                      <a:noFill/>
                    </a:lnT>
                    <a:lnB>
                      <a:noFill/>
                    </a:lnB>
                    <a:solidFill>
                      <a:srgbClr val="E6EBF0">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Autocallables ($1M+)</a:t>
                      </a:r>
                      <a:endParaRPr lang="en-US" sz="1100"/>
                    </a:p>
                  </a:txBody>
                  <a:tcPr marL="101600" marR="101600" marT="101600" marB="101600" anchor="ctr">
                    <a:lnL>
                      <a:noFill/>
                    </a:lnL>
                    <a:lnR>
                      <a:noFill/>
                    </a:lnR>
                    <a:lnT>
                      <a:noFill/>
                    </a:lnT>
                    <a:lnB>
                      <a:noFill/>
                    </a:lnB>
                    <a:solidFill>
                      <a:srgbClr val="E6EBF0">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Principal at risk</a:t>
                      </a:r>
                      <a:endParaRPr lang="en-US" sz="1100"/>
                    </a:p>
                  </a:txBody>
                  <a:tcPr marL="101600" marR="101600" marT="101600" marB="101600" anchor="ctr">
                    <a:lnL>
                      <a:noFill/>
                    </a:lnL>
                    <a:lnR>
                      <a:noFill/>
                    </a:lnR>
                    <a:lnT>
                      <a:noFill/>
                    </a:lnT>
                    <a:lnB>
                      <a:noFill/>
                    </a:lnB>
                    <a:solidFill>
                      <a:srgbClr val="E6EBF0">
                        <a:alpha val="100000"/>
                      </a:srgbClr>
                    </a:solid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300" b="0" i="0" u="none" strike="noStrike">
                          <a:solidFill>
                            <a:srgbClr val="323232"/>
                          </a:solidFill>
                          <a:latin typeface="Arial"/>
                          <a:ea typeface="Arial"/>
                          <a:cs typeface="Arial"/>
                          <a:sym typeface="Arial"/>
                        </a:rPr>
                        <a:t>Institutions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Inflation Notes ($10M+)</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Inflation volatility</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444500">
                <a:tc>
                  <a:txBody>
                    <a:bodyPr/>
                    <a:lstStyle/>
                    <a:p>
                      <a:pPr indent="0" algn="ctr">
                        <a:lnSpc>
                          <a:spcPct val="100000"/>
                        </a:lnSpc>
                        <a:defRPr/>
                      </a:pPr>
                      <a:r>
                        <a:rPr lang="en-US" sz="1300" b="0" i="0" u="none" strike="noStrike">
                          <a:solidFill>
                            <a:srgbClr val="323232"/>
                          </a:solidFill>
                          <a:latin typeface="Arial"/>
                          <a:ea typeface="Arial"/>
                          <a:cs typeface="Arial"/>
                          <a:sym typeface="Arial"/>
                        </a:rPr>
                        <a:t>HNW Individuals</a:t>
                      </a:r>
                      <a:endParaRPr lang="en-US" sz="1100"/>
                    </a:p>
                  </a:txBody>
                  <a:tcPr marL="101600" marR="101600" marT="101600" marB="101600" anchor="ctr">
                    <a:lnL>
                      <a:noFill/>
                    </a:lnL>
                    <a:lnR>
                      <a:noFill/>
                    </a:lnR>
                    <a:lnT>
                      <a:noFill/>
                    </a:lnT>
                    <a:lnB>
                      <a:noFill/>
                    </a:lnB>
                    <a:solidFill>
                      <a:srgbClr val="E6EBF0">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ELNs</a:t>
                      </a:r>
                      <a:endParaRPr lang="en-US" sz="1100"/>
                    </a:p>
                  </a:txBody>
                  <a:tcPr marL="101600" marR="101600" marT="101600" marB="101600" anchor="ctr">
                    <a:lnL>
                      <a:noFill/>
                    </a:lnL>
                    <a:lnR>
                      <a:noFill/>
                    </a:lnR>
                    <a:lnT>
                      <a:noFill/>
                    </a:lnT>
                    <a:lnB>
                      <a:noFill/>
                    </a:lnB>
                    <a:solidFill>
                      <a:srgbClr val="E6EBF0">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Equity market risk</a:t>
                      </a:r>
                      <a:endParaRPr lang="en-US" sz="1100"/>
                    </a:p>
                  </a:txBody>
                  <a:tcPr marL="101600" marR="101600" marT="101600" marB="101600" anchor="ctr">
                    <a:lnL>
                      <a:noFill/>
                    </a:lnL>
                    <a:lnR>
                      <a:noFill/>
                    </a:lnR>
                    <a:lnT>
                      <a:noFill/>
                    </a:lnT>
                    <a:lnB>
                      <a:noFill/>
                    </a:lnB>
                    <a:solidFill>
                      <a:srgbClr val="E6EBF0">
                        <a:alpha val="100000"/>
                      </a:srgbClr>
                    </a:solidFill>
                  </a:tcPr>
                </a:tc>
                <a:extLst>
                  <a:ext uri="{0D108BD9-81ED-4DB2-BD59-A6C34878D82A}">
                    <a16:rowId xmlns:a16="http://schemas.microsoft.com/office/drawing/2014/main" val="10003"/>
                  </a:ext>
                </a:extLst>
              </a:tr>
              <a:tr h="444500">
                <a:tc>
                  <a:txBody>
                    <a:bodyPr/>
                    <a:lstStyle/>
                    <a:p>
                      <a:pPr indent="0" algn="ctr">
                        <a:lnSpc>
                          <a:spcPct val="100000"/>
                        </a:lnSpc>
                        <a:defRPr/>
                      </a:pPr>
                      <a:r>
                        <a:rPr lang="en-US" sz="1300" b="0" i="0" u="none" strike="noStrike">
                          <a:solidFill>
                            <a:srgbClr val="323232"/>
                          </a:solidFill>
                          <a:latin typeface="Arial"/>
                          <a:ea typeface="Arial"/>
                          <a:cs typeface="Arial"/>
                          <a:sym typeface="Arial"/>
                        </a:rPr>
                        <a:t>Corporate Treasuries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Dual Deposits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23232"/>
                          </a:solidFill>
                          <a:latin typeface="Arial"/>
                          <a:ea typeface="Arial"/>
                          <a:cs typeface="Arial"/>
                          <a:sym typeface="Arial"/>
                        </a:rPr>
                        <a:t>FX depreciation risk</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12" name="AutoShape 12"/>
          <p:cNvSpPr/>
          <p:nvPr/>
        </p:nvSpPr>
        <p:spPr>
          <a:xfrm>
            <a:off x="7874000" y="1143000"/>
            <a:ext cx="3810000" cy="5207000"/>
          </a:xfrm>
          <a:prstGeom prst="roundRect">
            <a:avLst>
              <a:gd name="adj" fmla="val 3333"/>
            </a:avLst>
          </a:prstGeom>
          <a:solidFill>
            <a:srgbClr val="FFD700">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28000" y="1397000"/>
            <a:ext cx="406400" cy="406400"/>
          </a:xfrm>
          <a:prstGeom prst="rect">
            <a:avLst/>
          </a:prstGeom>
        </p:spPr>
      </p:pic>
      <p:sp>
        <p:nvSpPr>
          <p:cNvPr id="14" name="AutoShape 14"/>
          <p:cNvSpPr/>
          <p:nvPr/>
        </p:nvSpPr>
        <p:spPr>
          <a:xfrm>
            <a:off x="8636000" y="1371600"/>
            <a:ext cx="304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Learning</a:t>
            </a:r>
            <a:endParaRPr lang="en-US" sz="1100"/>
          </a:p>
        </p:txBody>
      </p:sp>
      <p:cxnSp>
        <p:nvCxnSpPr>
          <p:cNvPr id="15" name="Connector 15"/>
          <p:cNvCxnSpPr/>
          <p:nvPr/>
        </p:nvCxnSpPr>
        <p:spPr>
          <a:xfrm rot="-13222">
            <a:off x="8128012" y="1898650"/>
            <a:ext cx="3302000" cy="12700"/>
          </a:xfrm>
          <a:prstGeom prst="straightConnector1">
            <a:avLst/>
          </a:prstGeom>
          <a:solidFill>
            <a:srgbClr val="DEE0E3">
              <a:alpha val="100000"/>
            </a:srgbClr>
          </a:solidFill>
          <a:ln w="25400" cap="flat" cmpd="sng">
            <a:solidFill>
              <a:srgbClr val="003366">
                <a:alpha val="30000"/>
              </a:srgbClr>
            </a:solidFill>
            <a:prstDash val="solid"/>
            <a:round/>
            <a:headEnd type="none" w="lg" len="lg"/>
            <a:tailEnd type="none" w="lg" len="lg"/>
          </a:ln>
        </p:spPr>
      </p:cxnSp>
      <p:sp>
        <p:nvSpPr>
          <p:cNvPr id="16" name="AutoShape 16"/>
          <p:cNvSpPr/>
          <p:nvPr/>
        </p:nvSpPr>
        <p:spPr>
          <a:xfrm>
            <a:off x="8128000" y="2095500"/>
            <a:ext cx="3302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23232"/>
                </a:solidFill>
                <a:latin typeface="Arial"/>
                <a:ea typeface="Arial"/>
                <a:cs typeface="Arial"/>
                <a:sym typeface="Arial"/>
              </a:rPr>
              <a:t>When recommending structured products to clients, it is critical to</a:t>
            </a:r>
            <a:r>
              <a:rPr lang="en-GB" sz="1600" b="0" i="0" u="none" strike="noStrike" dirty="0">
                <a:solidFill>
                  <a:srgbClr val="323232"/>
                </a:solidFill>
                <a:latin typeface="Arial"/>
                <a:ea typeface="Arial"/>
                <a:cs typeface="Arial"/>
                <a:sym typeface="Arial"/>
              </a:rPr>
              <a:t> </a:t>
            </a:r>
            <a:r>
              <a:rPr lang="en-US" sz="1600" b="1" i="0" u="none" strike="noStrike" dirty="0">
                <a:solidFill>
                  <a:srgbClr val="003366"/>
                </a:solidFill>
                <a:latin typeface="Arial"/>
                <a:ea typeface="Arial"/>
                <a:cs typeface="Arial"/>
                <a:sym typeface="Arial"/>
              </a:rPr>
              <a:t>emphasize all associated risks</a:t>
            </a:r>
            <a:r>
              <a:rPr lang="en-US" sz="1600" b="0" i="0" u="none" strike="noStrike" dirty="0">
                <a:solidFill>
                  <a:srgbClr val="323232"/>
                </a:solidFill>
                <a:latin typeface="Arial"/>
                <a:ea typeface="Arial"/>
                <a:cs typeface="Arial"/>
                <a:sym typeface="Arial"/>
              </a:rPr>
              <a:t>.</a:t>
            </a:r>
            <a:endParaRPr lang="en-US" sz="1100" dirty="0"/>
          </a:p>
          <a:p>
            <a:pPr indent="0" algn="l">
              <a:lnSpc>
                <a:spcPct val="125000"/>
              </a:lnSpc>
            </a:pPr>
            <a:br>
              <a:rPr lang="en-US" sz="1600" b="0" i="0" u="none" strike="noStrike" dirty="0">
                <a:solidFill>
                  <a:srgbClr val="1F2329"/>
                </a:solidFill>
                <a:latin typeface="Arial"/>
                <a:ea typeface="Arial"/>
                <a:cs typeface="Arial"/>
                <a:sym typeface="Arial"/>
              </a:rPr>
            </a:br>
            <a:endParaRPr lang="en-US" sz="1600" b="0" i="0" u="none" strike="noStrike" dirty="0">
              <a:solidFill>
                <a:srgbClr val="1F2329"/>
              </a:solidFill>
              <a:latin typeface="Arial"/>
              <a:ea typeface="Arial"/>
              <a:cs typeface="Arial"/>
              <a:sym typeface="Arial"/>
            </a:endParaRPr>
          </a:p>
          <a:p>
            <a:pPr indent="0" algn="l">
              <a:lnSpc>
                <a:spcPct val="125000"/>
              </a:lnSpc>
            </a:pPr>
            <a:r>
              <a:rPr lang="en-US" sz="1400" b="0" i="0" u="none" strike="noStrike" dirty="0">
                <a:solidFill>
                  <a:srgbClr val="505050"/>
                </a:solidFill>
                <a:latin typeface="Arial"/>
                <a:ea typeface="Arial"/>
                <a:cs typeface="Arial"/>
                <a:sym typeface="Arial"/>
              </a:rPr>
              <a:t>This ensures:</a:t>
            </a:r>
          </a:p>
          <a:p>
            <a:pPr marL="177800" indent="-177800" algn="l">
              <a:lnSpc>
                <a:spcPct val="125000"/>
              </a:lnSpc>
              <a:buClr>
                <a:srgbClr val="505050"/>
              </a:buClr>
              <a:buChar char="•"/>
            </a:pPr>
            <a:r>
              <a:rPr lang="en-US" sz="1400" b="0" i="0" u="none" strike="noStrike" dirty="0">
                <a:solidFill>
                  <a:srgbClr val="505050"/>
                </a:solidFill>
                <a:latin typeface="Arial"/>
                <a:ea typeface="Arial"/>
                <a:cs typeface="Arial"/>
                <a:sym typeface="Arial"/>
              </a:rPr>
              <a:t>Product Suitability</a:t>
            </a:r>
          </a:p>
          <a:p>
            <a:pPr marL="177800" indent="-177800" algn="l">
              <a:lnSpc>
                <a:spcPct val="125000"/>
              </a:lnSpc>
              <a:buClr>
                <a:srgbClr val="505050"/>
              </a:buClr>
              <a:buChar char="•"/>
            </a:pPr>
            <a:r>
              <a:rPr lang="en-US" sz="1400" b="0" i="0" u="none" strike="noStrike" dirty="0">
                <a:solidFill>
                  <a:srgbClr val="505050"/>
                </a:solidFill>
                <a:latin typeface="Arial"/>
                <a:ea typeface="Arial"/>
                <a:cs typeface="Arial"/>
                <a:sym typeface="Arial"/>
              </a:rPr>
              <a:t>Regulatory Compliance</a:t>
            </a:r>
          </a:p>
          <a:p>
            <a:pPr marL="177800" indent="-177800" algn="l">
              <a:lnSpc>
                <a:spcPct val="125000"/>
              </a:lnSpc>
              <a:buClr>
                <a:srgbClr val="505050"/>
              </a:buClr>
              <a:buChar char="•"/>
            </a:pPr>
            <a:r>
              <a:rPr lang="en-US" sz="1400" b="0" i="0" u="none" strike="noStrike" dirty="0">
                <a:solidFill>
                  <a:srgbClr val="505050"/>
                </a:solidFill>
                <a:latin typeface="Arial"/>
                <a:ea typeface="Arial"/>
                <a:cs typeface="Arial"/>
                <a:sym typeface="Arial"/>
              </a:rPr>
              <a:t>Transparency with Clients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FFFF"/>
                </a:solidFill>
                <a:latin typeface="Arial"/>
                <a:ea typeface="Arial"/>
                <a:cs typeface="Arial"/>
                <a:sym typeface="Arial"/>
              </a:rPr>
              <a:t>Week 2: Sales Strategy Development</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1397000"/>
            <a:ext cx="304800" cy="304800"/>
          </a:xfrm>
          <a:prstGeom prst="rect">
            <a:avLst/>
          </a:prstGeom>
        </p:spPr>
      </p:pic>
      <p:sp>
        <p:nvSpPr>
          <p:cNvPr id="6" name="AutoShape 6"/>
          <p:cNvSpPr/>
          <p:nvPr/>
        </p:nvSpPr>
        <p:spPr>
          <a:xfrm>
            <a:off x="889000" y="1371600"/>
            <a:ext cx="736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Plan:</a:t>
            </a:r>
            <a:r>
              <a:rPr lang="en-US" sz="1400" b="0" i="0" u="none" strike="noStrike">
                <a:solidFill>
                  <a:srgbClr val="333333"/>
                </a:solidFill>
                <a:latin typeface="Arial"/>
                <a:ea typeface="Arial"/>
                <a:cs typeface="Arial"/>
                <a:sym typeface="Arial"/>
              </a:rPr>
              <a:t>Targets (Asia segments), Value Prop (AI pricing 5-10bps savings).</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 y="1905000"/>
            <a:ext cx="304800" cy="304800"/>
          </a:xfrm>
          <a:prstGeom prst="rect">
            <a:avLst/>
          </a:prstGeom>
        </p:spPr>
      </p:pic>
      <p:sp>
        <p:nvSpPr>
          <p:cNvPr id="8" name="AutoShape 8"/>
          <p:cNvSpPr/>
          <p:nvPr/>
        </p:nvSpPr>
        <p:spPr>
          <a:xfrm>
            <a:off x="889000" y="1879600"/>
            <a:ext cx="736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Channels:</a:t>
            </a:r>
            <a:r>
              <a:rPr lang="en-US" sz="1400" b="0" i="0" u="none" strike="noStrike">
                <a:solidFill>
                  <a:srgbClr val="333333"/>
                </a:solidFill>
                <a:latin typeface="Arial"/>
                <a:ea typeface="Arial"/>
                <a:cs typeface="Arial"/>
                <a:sym typeface="Arial"/>
              </a:rPr>
              <a:t>Digital, events, partnerships.</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000" y="2413000"/>
            <a:ext cx="304800" cy="304800"/>
          </a:xfrm>
          <a:prstGeom prst="rect">
            <a:avLst/>
          </a:prstGeom>
        </p:spPr>
      </p:pic>
      <p:sp>
        <p:nvSpPr>
          <p:cNvPr id="10" name="AutoShape 10"/>
          <p:cNvSpPr/>
          <p:nvPr/>
        </p:nvSpPr>
        <p:spPr>
          <a:xfrm>
            <a:off x="889000" y="2387600"/>
            <a:ext cx="736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Roadmap:</a:t>
            </a:r>
            <a:r>
              <a:rPr lang="en-US" sz="1400" b="0" i="0" u="none" strike="noStrike">
                <a:solidFill>
                  <a:srgbClr val="333333"/>
                </a:solidFill>
                <a:latin typeface="Arial"/>
                <a:ea typeface="Arial"/>
                <a:cs typeface="Arial"/>
                <a:sym typeface="Arial"/>
              </a:rPr>
              <a:t>Phased launches with clear milestones.</a:t>
            </a:r>
            <a:endParaRPr lang="en-US" sz="1100"/>
          </a:p>
        </p:txBody>
      </p:sp>
      <p:graphicFrame>
        <p:nvGraphicFramePr>
          <p:cNvPr id="11" name="Table 11"/>
          <p:cNvGraphicFramePr>
            <a:graphicFrameLocks noGrp="1"/>
          </p:cNvGraphicFramePr>
          <p:nvPr/>
        </p:nvGraphicFramePr>
        <p:xfrm>
          <a:off x="508000" y="3048000"/>
          <a:ext cx="7620000" cy="24765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tblGrid>
              <a:tr h="4445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Phase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Activities</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Timeline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Milestones</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Research</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Market analysis &amp; client profiling</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Month 1</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Complete target list</a:t>
                      </a:r>
                      <a:endParaRPr lang="en-US" sz="1100"/>
                    </a:p>
                  </a:txBody>
                  <a:tcPr marL="101600" marR="101600" marT="101600" marB="101600" anchor="ctr">
                    <a:lnL>
                      <a:noFill/>
                    </a:lnL>
                    <a:lnR>
                      <a:noFill/>
                    </a:lnR>
                    <a:lnT>
                      <a:noFill/>
                    </a:lnT>
                    <a:lnB>
                      <a:noFill/>
                    </a:lnB>
                    <a:solidFill>
                      <a:srgbClr val="F0F5FA">
                        <a:alpha val="100000"/>
                      </a:srgbClr>
                    </a:solidFill>
                  </a:tcPr>
                </a:tc>
                <a:extLst>
                  <a:ext uri="{0D108BD9-81ED-4DB2-BD59-A6C34878D82A}">
                    <a16:rowId xmlns:a16="http://schemas.microsoft.com/office/drawing/2014/main" val="10001"/>
                  </a:ext>
                </a:extLst>
              </a:tr>
              <a:tr h="508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Launch</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Digital campaigns &amp; roadshows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Month 2-3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100 qualified leads</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508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Optimization</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A/B testing &amp; feedback</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Month 4</a:t>
                      </a:r>
                      <a:endParaRPr lang="en-US" sz="1100"/>
                    </a:p>
                  </a:txBody>
                  <a:tcPr marL="101600" marR="101600" marT="101600" marB="101600" anchor="ctr">
                    <a:lnL>
                      <a:noFill/>
                    </a:lnL>
                    <a:lnR>
                      <a:noFill/>
                    </a:lnR>
                    <a:lnT>
                      <a:noFill/>
                    </a:lnT>
                    <a:lnB>
                      <a:noFill/>
                    </a:lnB>
                    <a:solidFill>
                      <a:srgbClr val="F0F5FA">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20% conversion rate</a:t>
                      </a:r>
                      <a:endParaRPr lang="en-US" sz="1100"/>
                    </a:p>
                  </a:txBody>
                  <a:tcPr marL="101600" marR="101600" marT="101600" marB="101600" anchor="ctr">
                    <a:lnL>
                      <a:noFill/>
                    </a:lnL>
                    <a:lnR>
                      <a:noFill/>
                    </a:lnR>
                    <a:lnT>
                      <a:noFill/>
                    </a:lnT>
                    <a:lnB>
                      <a:noFill/>
                    </a:lnB>
                    <a:solidFill>
                      <a:srgbClr val="F0F5FA">
                        <a:alpha val="100000"/>
                      </a:srgbClr>
                    </a:solidFill>
                  </a:tcPr>
                </a:tc>
                <a:extLst>
                  <a:ext uri="{0D108BD9-81ED-4DB2-BD59-A6C34878D82A}">
                    <a16:rowId xmlns:a16="http://schemas.microsoft.com/office/drawing/2014/main" val="10003"/>
                  </a:ext>
                </a:extLst>
              </a:tr>
              <a:tr h="508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Scale</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Partnerships &amp; expansion</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Month 5-6</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$50M AUM</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12" name="AutoShape 12"/>
          <p:cNvSpPr/>
          <p:nvPr/>
        </p:nvSpPr>
        <p:spPr>
          <a:xfrm>
            <a:off x="8382000" y="1397000"/>
            <a:ext cx="3302000" cy="4826000"/>
          </a:xfrm>
          <a:prstGeom prst="roundRect">
            <a:avLst>
              <a:gd name="adj" fmla="val 3846"/>
            </a:avLst>
          </a:prstGeom>
          <a:solidFill>
            <a:srgbClr val="FFD700">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36000" y="1651000"/>
            <a:ext cx="406400" cy="406400"/>
          </a:xfrm>
          <a:prstGeom prst="rect">
            <a:avLst/>
          </a:prstGeom>
        </p:spPr>
      </p:pic>
      <p:sp>
        <p:nvSpPr>
          <p:cNvPr id="14" name="AutoShape 14"/>
          <p:cNvSpPr/>
          <p:nvPr/>
        </p:nvSpPr>
        <p:spPr>
          <a:xfrm>
            <a:off x="9144000" y="1676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Key Insight</a:t>
            </a:r>
            <a:endParaRPr lang="en-US" sz="1100"/>
          </a:p>
        </p:txBody>
      </p:sp>
      <p:cxnSp>
        <p:nvCxnSpPr>
          <p:cNvPr id="15" name="Connector 15"/>
          <p:cNvCxnSpPr/>
          <p:nvPr/>
        </p:nvCxnSpPr>
        <p:spPr>
          <a:xfrm rot="-15626">
            <a:off x="8636014" y="2152650"/>
            <a:ext cx="27940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16" name="AutoShape 16"/>
          <p:cNvSpPr/>
          <p:nvPr/>
        </p:nvSpPr>
        <p:spPr>
          <a:xfrm>
            <a:off x="8636000" y="23495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Arial"/>
                <a:ea typeface="Arial"/>
                <a:cs typeface="Arial"/>
                <a:sym typeface="Arial"/>
              </a:rPr>
              <a:t>Competitive Edge</a:t>
            </a:r>
            <a:endParaRPr lang="en-US" sz="1100"/>
          </a:p>
          <a:p>
            <a:pPr indent="0" algn="l">
              <a:lnSpc>
                <a:spcPct val="125000"/>
              </a:lnSpc>
            </a:pPr>
            <a:r>
              <a:rPr lang="en-US" sz="1400" b="0" i="0" u="none" strike="noStrike">
                <a:solidFill>
                  <a:srgbClr val="333333"/>
                </a:solidFill>
                <a:latin typeface="Arial"/>
                <a:ea typeface="Arial"/>
                <a:cs typeface="Arial"/>
                <a:sym typeface="Arial"/>
              </a:rPr>
              <a:t>Leverage our privileged access to specific markets to build a moat against competitors. The early mover advantage in AI-driven pricing will be crucial.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889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Arial"/>
                <a:ea typeface="Arial"/>
                <a:cs typeface="Arial"/>
                <a:sym typeface="Arial"/>
              </a:rPr>
              <a:t>Week 2: Client Outreach and Follow-Ups</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1206500"/>
            <a:ext cx="304800" cy="304800"/>
          </a:xfrm>
          <a:prstGeom prst="rect">
            <a:avLst/>
          </a:prstGeom>
        </p:spPr>
      </p:pic>
      <p:sp>
        <p:nvSpPr>
          <p:cNvPr id="6" name="AutoShape 6"/>
          <p:cNvSpPr/>
          <p:nvPr/>
        </p:nvSpPr>
        <p:spPr>
          <a:xfrm>
            <a:off x="762000" y="1168400"/>
            <a:ext cx="711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Target Clients (20+):</a:t>
            </a:r>
            <a:r>
              <a:rPr lang="en-US" sz="1400" b="0" i="0" u="none" strike="noStrike">
                <a:solidFill>
                  <a:srgbClr val="505050"/>
                </a:solidFill>
                <a:latin typeface="Arial"/>
                <a:ea typeface="Arial"/>
                <a:cs typeface="Arial"/>
                <a:sym typeface="Arial"/>
              </a:rPr>
              <a:t>Including HSBC. Phased approach covering preparation, emails, and webinars.</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1714500"/>
            <a:ext cx="304800" cy="304800"/>
          </a:xfrm>
          <a:prstGeom prst="rect">
            <a:avLst/>
          </a:prstGeom>
        </p:spPr>
      </p:pic>
      <p:sp>
        <p:nvSpPr>
          <p:cNvPr id="8" name="AutoShape 8"/>
          <p:cNvSpPr/>
          <p:nvPr/>
        </p:nvSpPr>
        <p:spPr>
          <a:xfrm>
            <a:off x="762000" y="1676400"/>
            <a:ext cx="711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Templates Used:</a:t>
            </a:r>
            <a:r>
              <a:rPr lang="en-US" sz="1400" b="0" i="0" u="none" strike="noStrike">
                <a:solidFill>
                  <a:srgbClr val="505050"/>
                </a:solidFill>
                <a:latin typeface="Arial"/>
                <a:ea typeface="Arial"/>
                <a:cs typeface="Arial"/>
                <a:sym typeface="Arial"/>
              </a:rPr>
              <a:t>Personalized benefits/risks analysis to increase relevance.</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1000" y="2222500"/>
            <a:ext cx="304800" cy="304800"/>
          </a:xfrm>
          <a:prstGeom prst="rect">
            <a:avLst/>
          </a:prstGeom>
        </p:spPr>
      </p:pic>
      <p:sp>
        <p:nvSpPr>
          <p:cNvPr id="10" name="AutoShape 10"/>
          <p:cNvSpPr/>
          <p:nvPr/>
        </p:nvSpPr>
        <p:spPr>
          <a:xfrm>
            <a:off x="762000" y="2184400"/>
            <a:ext cx="711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Tools &amp; Tech:</a:t>
            </a:r>
            <a:r>
              <a:rPr lang="en-US" sz="1400" b="0" i="0" u="none" strike="noStrike">
                <a:solidFill>
                  <a:srgbClr val="505050"/>
                </a:solidFill>
                <a:latin typeface="Arial"/>
                <a:ea typeface="Arial"/>
                <a:cs typeface="Arial"/>
                <a:sym typeface="Arial"/>
              </a:rPr>
              <a:t>CRM System &amp; HubSpot for tracking and engagement.</a:t>
            </a:r>
            <a:endParaRPr lang="en-US" sz="1100"/>
          </a:p>
        </p:txBody>
      </p:sp>
      <p:graphicFrame>
        <p:nvGraphicFramePr>
          <p:cNvPr id="11" name="Table 11"/>
          <p:cNvGraphicFramePr>
            <a:graphicFrameLocks noGrp="1"/>
          </p:cNvGraphicFramePr>
          <p:nvPr/>
        </p:nvGraphicFramePr>
        <p:xfrm>
          <a:off x="381000" y="2857500"/>
          <a:ext cx="7366000" cy="22225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445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Phase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Channels</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Goals</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Preparation</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Research &amp; Profiling</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Identify key pain points</a:t>
                      </a:r>
                      <a:endParaRPr lang="en-US" sz="1100"/>
                    </a:p>
                  </a:txBody>
                  <a:tcPr marL="101600" marR="101600" marT="101600" marB="101600" anchor="ctr">
                    <a:lnL>
                      <a:noFill/>
                    </a:lnL>
                    <a:lnR>
                      <a:noFill/>
                    </a:lnR>
                    <a:lnT>
                      <a:noFill/>
                    </a:lnT>
                    <a:lnB>
                      <a:noFill/>
                    </a:lnB>
                    <a:solidFill>
                      <a:srgbClr val="FFFFFF">
                        <a:alpha val="80000"/>
                      </a:srgbClr>
                    </a:solid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Initial Contact</a:t>
                      </a:r>
                      <a:endParaRPr lang="en-US" sz="1100"/>
                    </a:p>
                  </a:txBody>
                  <a:tcPr marL="101600" marR="101600" marT="101600" marB="101600" anchor="ctr">
                    <a:lnL>
                      <a:noFill/>
                    </a:lnL>
                    <a:lnR>
                      <a:noFill/>
                    </a:lnR>
                    <a:lnT>
                      <a:noFill/>
                    </a:lnT>
                    <a:lnB>
                      <a:noFill/>
                    </a:lnB>
                    <a:solidFill>
                      <a:srgbClr val="EBF0F5">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Personalized Emails</a:t>
                      </a:r>
                      <a:endParaRPr lang="en-US" sz="1100"/>
                    </a:p>
                  </a:txBody>
                  <a:tcPr marL="101600" marR="101600" marT="101600" marB="101600" anchor="ctr">
                    <a:lnL>
                      <a:noFill/>
                    </a:lnL>
                    <a:lnR>
                      <a:noFill/>
                    </a:lnR>
                    <a:lnT>
                      <a:noFill/>
                    </a:lnT>
                    <a:lnB>
                      <a:noFill/>
                    </a:lnB>
                    <a:solidFill>
                      <a:srgbClr val="EBF0F5">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Deliver risk/benefit analysis</a:t>
                      </a:r>
                      <a:endParaRPr lang="en-US" sz="1100"/>
                    </a:p>
                  </a:txBody>
                  <a:tcPr marL="101600" marR="101600" marT="101600" marB="101600" anchor="ctr">
                    <a:lnL>
                      <a:noFill/>
                    </a:lnL>
                    <a:lnR>
                      <a:noFill/>
                    </a:lnR>
                    <a:lnT>
                      <a:noFill/>
                    </a:lnT>
                    <a:lnB>
                      <a:noFill/>
                    </a:lnB>
                    <a:solidFill>
                      <a:srgbClr val="EBF0F5">
                        <a:alpha val="80000"/>
                      </a:srgbClr>
                    </a:solidFill>
                  </a:tcPr>
                </a:tc>
                <a:extLst>
                  <a:ext uri="{0D108BD9-81ED-4DB2-BD59-A6C34878D82A}">
                    <a16:rowId xmlns:a16="http://schemas.microsoft.com/office/drawing/2014/main" val="10002"/>
                  </a:ext>
                </a:extLst>
              </a:tr>
              <a:tr h="444500">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Follow-up</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Webinars &amp; Calls</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Schedule demo meetings</a:t>
                      </a:r>
                      <a:endParaRPr lang="en-US" sz="1100"/>
                    </a:p>
                  </a:txBody>
                  <a:tcPr marL="101600" marR="101600" marT="101600" marB="101600" anchor="ctr">
                    <a:lnL>
                      <a:noFill/>
                    </a:lnL>
                    <a:lnR>
                      <a:noFill/>
                    </a:lnR>
                    <a:lnT>
                      <a:noFill/>
                    </a:lnT>
                    <a:lnB>
                      <a:noFill/>
                    </a:lnB>
                    <a:solidFill>
                      <a:srgbClr val="FFFFFF">
                        <a:alpha val="80000"/>
                      </a:srgbClr>
                    </a:solidFill>
                  </a:tcPr>
                </a:tc>
                <a:extLst>
                  <a:ext uri="{0D108BD9-81ED-4DB2-BD59-A6C34878D82A}">
                    <a16:rowId xmlns:a16="http://schemas.microsoft.com/office/drawing/2014/main" val="10003"/>
                  </a:ext>
                </a:extLst>
              </a:tr>
              <a:tr h="444500">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Nurture</a:t>
                      </a:r>
                      <a:endParaRPr lang="en-US" sz="1100"/>
                    </a:p>
                  </a:txBody>
                  <a:tcPr marL="101600" marR="101600" marT="101600" marB="101600" anchor="ctr">
                    <a:lnL>
                      <a:noFill/>
                    </a:lnL>
                    <a:lnR>
                      <a:noFill/>
                    </a:lnR>
                    <a:lnT>
                      <a:noFill/>
                    </a:lnT>
                    <a:lnB>
                      <a:noFill/>
                    </a:lnB>
                    <a:solidFill>
                      <a:srgbClr val="EBF0F5">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CRM Engagement</a:t>
                      </a:r>
                      <a:endParaRPr lang="en-US" sz="1100"/>
                    </a:p>
                  </a:txBody>
                  <a:tcPr marL="101600" marR="101600" marT="101600" marB="101600" anchor="ctr">
                    <a:lnL>
                      <a:noFill/>
                    </a:lnL>
                    <a:lnR>
                      <a:noFill/>
                    </a:lnR>
                    <a:lnT>
                      <a:noFill/>
                    </a:lnT>
                    <a:lnB>
                      <a:noFill/>
                    </a:lnB>
                    <a:solidFill>
                      <a:srgbClr val="EBF0F5">
                        <a:alpha val="80000"/>
                      </a:srgbClr>
                    </a:solidFill>
                  </a:tcPr>
                </a:tc>
                <a:tc>
                  <a:txBody>
                    <a:bodyPr/>
                    <a:lstStyle/>
                    <a:p>
                      <a:pPr indent="0" algn="ctr">
                        <a:lnSpc>
                          <a:spcPct val="100000"/>
                        </a:lnSpc>
                        <a:defRPr/>
                      </a:pPr>
                      <a:r>
                        <a:rPr lang="en-US" sz="1300" b="0" i="0" u="none" strike="noStrike">
                          <a:solidFill>
                            <a:srgbClr val="323232"/>
                          </a:solidFill>
                          <a:latin typeface="Noto Sans SC"/>
                          <a:ea typeface="Noto Sans SC"/>
                          <a:cs typeface="Noto Sans SC"/>
                          <a:sym typeface="Noto Sans SC"/>
                        </a:rPr>
                        <a:t>Convert to opportunities</a:t>
                      </a:r>
                      <a:endParaRPr lang="en-US" sz="1100"/>
                    </a:p>
                  </a:txBody>
                  <a:tcPr marL="101600" marR="101600" marT="101600" marB="101600" anchor="ctr">
                    <a:lnL>
                      <a:noFill/>
                    </a:lnL>
                    <a:lnR>
                      <a:noFill/>
                    </a:lnR>
                    <a:lnT>
                      <a:noFill/>
                    </a:lnT>
                    <a:lnB>
                      <a:noFill/>
                    </a:lnB>
                    <a:solidFill>
                      <a:srgbClr val="EBF0F5">
                        <a:alpha val="80000"/>
                      </a:srgbClr>
                    </a:solidFill>
                  </a:tcPr>
                </a:tc>
                <a:extLst>
                  <a:ext uri="{0D108BD9-81ED-4DB2-BD59-A6C34878D82A}">
                    <a16:rowId xmlns:a16="http://schemas.microsoft.com/office/drawing/2014/main" val="10004"/>
                  </a:ext>
                </a:extLst>
              </a:tr>
            </a:tbl>
          </a:graphicData>
        </a:graphic>
      </p:graphicFrame>
      <p:sp>
        <p:nvSpPr>
          <p:cNvPr id="12" name="AutoShape 12"/>
          <p:cNvSpPr/>
          <p:nvPr/>
        </p:nvSpPr>
        <p:spPr>
          <a:xfrm>
            <a:off x="8001000" y="1143000"/>
            <a:ext cx="3810000" cy="4826000"/>
          </a:xfrm>
          <a:prstGeom prst="roundRect">
            <a:avLst>
              <a:gd name="adj" fmla="val 3333"/>
            </a:avLst>
          </a:prstGeom>
          <a:solidFill>
            <a:srgbClr val="FFD700">
              <a:alpha val="100000"/>
            </a:srgbClr>
          </a:solidFill>
          <a:ln w="25400" cap="flat" cmpd="sng">
            <a:noFill/>
            <a:prstDash val="solid"/>
            <a:round/>
          </a:ln>
          <a:effectLst>
            <a:outerShdw blurRad="127000" dist="635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5000" y="1397000"/>
            <a:ext cx="406400" cy="406400"/>
          </a:xfrm>
          <a:prstGeom prst="rect">
            <a:avLst/>
          </a:prstGeom>
        </p:spPr>
      </p:pic>
      <p:sp>
        <p:nvSpPr>
          <p:cNvPr id="14" name="AutoShape 14"/>
          <p:cNvSpPr/>
          <p:nvPr/>
        </p:nvSpPr>
        <p:spPr>
          <a:xfrm>
            <a:off x="8763000" y="1397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Key Learning</a:t>
            </a:r>
            <a:endParaRPr lang="en-US" sz="1100"/>
          </a:p>
        </p:txBody>
      </p:sp>
      <p:cxnSp>
        <p:nvCxnSpPr>
          <p:cNvPr id="15" name="Connector 15"/>
          <p:cNvCxnSpPr/>
          <p:nvPr/>
        </p:nvCxnSpPr>
        <p:spPr>
          <a:xfrm rot="-13222">
            <a:off x="8255012" y="1898650"/>
            <a:ext cx="33020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16" name="AutoShape 16"/>
          <p:cNvSpPr/>
          <p:nvPr/>
        </p:nvSpPr>
        <p:spPr>
          <a:xfrm>
            <a:off x="8255000" y="2032000"/>
            <a:ext cx="3302000" cy="355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003366"/>
                </a:solidFill>
                <a:latin typeface="Noto Sans SC"/>
                <a:ea typeface="Noto Sans SC"/>
                <a:cs typeface="Noto Sans SC"/>
                <a:sym typeface="Noto Sans SC"/>
              </a:rPr>
              <a:t>"Persistence with value-add builds trust."</a:t>
            </a:r>
            <a:endParaRPr lang="en-US" sz="1100"/>
          </a:p>
          <a:p>
            <a:pPr indent="0" algn="l">
              <a:lnSpc>
                <a:spcPct val="125000"/>
              </a:lnSpc>
            </a:pPr>
            <a:br>
              <a:rPr lang="en-US" sz="1600" b="0" i="0" u="none" strike="noStrike">
                <a:solidFill>
                  <a:srgbClr val="1F2329"/>
                </a:solidFill>
                <a:latin typeface="Noto Sans SC"/>
                <a:ea typeface="Noto Sans SC"/>
                <a:cs typeface="Noto Sans SC"/>
                <a:sym typeface="Noto Sans SC"/>
              </a:rPr>
            </a:br>
            <a:endParaRPr lang="en-US" sz="16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3C3C3C"/>
                </a:solidFill>
                <a:latin typeface="Noto Sans SC"/>
                <a:ea typeface="Noto Sans SC"/>
                <a:cs typeface="Noto Sans SC"/>
                <a:sym typeface="Noto Sans SC"/>
              </a:rPr>
              <a:t>Merely following up is not enough. Each touchpoint must provide new insights or value to the client. This approach not only keeps the conversation going but also positions us as a trusted advisor rather than just a salesperson.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Week 2: KPIs and Optimization</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1397000"/>
            <a:ext cx="304800" cy="304800"/>
          </a:xfrm>
          <a:prstGeom prst="rect">
            <a:avLst/>
          </a:prstGeom>
        </p:spPr>
      </p:pic>
      <p:sp>
        <p:nvSpPr>
          <p:cNvPr id="6" name="AutoShape 6"/>
          <p:cNvSpPr/>
          <p:nvPr/>
        </p:nvSpPr>
        <p:spPr>
          <a:xfrm>
            <a:off x="889000" y="1371600"/>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a:ea typeface="Arial"/>
                <a:cs typeface="Arial"/>
                <a:sym typeface="Arial"/>
              </a:rPr>
              <a:t>KPIs:</a:t>
            </a:r>
            <a:r>
              <a:rPr lang="en-US" sz="1400" b="0" i="0" u="none" strike="noStrike">
                <a:solidFill>
                  <a:srgbClr val="505050"/>
                </a:solidFill>
                <a:latin typeface="Arial"/>
                <a:ea typeface="Arial"/>
                <a:cs typeface="Arial"/>
                <a:sym typeface="Arial"/>
              </a:rPr>
              <a:t>Conversion 20%, AUM 25% QoQ, NPS &gt;50</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 y="1841500"/>
            <a:ext cx="304800" cy="304800"/>
          </a:xfrm>
          <a:prstGeom prst="rect">
            <a:avLst/>
          </a:prstGeom>
        </p:spPr>
      </p:pic>
      <p:sp>
        <p:nvSpPr>
          <p:cNvPr id="8" name="AutoShape 8"/>
          <p:cNvSpPr/>
          <p:nvPr/>
        </p:nvSpPr>
        <p:spPr>
          <a:xfrm>
            <a:off x="889000" y="1816100"/>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a:ea typeface="Arial"/>
                <a:cs typeface="Arial"/>
                <a:sym typeface="Arial"/>
              </a:rPr>
              <a:t>Tracking:</a:t>
            </a:r>
            <a:r>
              <a:rPr lang="en-US" sz="1400" b="0" i="0" u="none" strike="noStrike">
                <a:solidFill>
                  <a:srgbClr val="505050"/>
                </a:solidFill>
                <a:latin typeface="Arial"/>
                <a:ea typeface="Arial"/>
                <a:cs typeface="Arial"/>
                <a:sym typeface="Arial"/>
              </a:rPr>
              <a:t>Real-time monitoring via CRM dashboards</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000" y="2286000"/>
            <a:ext cx="304800" cy="304800"/>
          </a:xfrm>
          <a:prstGeom prst="rect">
            <a:avLst/>
          </a:prstGeom>
        </p:spPr>
      </p:pic>
      <p:sp>
        <p:nvSpPr>
          <p:cNvPr id="10" name="AutoShape 10"/>
          <p:cNvSpPr/>
          <p:nvPr/>
        </p:nvSpPr>
        <p:spPr>
          <a:xfrm>
            <a:off x="889000" y="2260600"/>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a:ea typeface="Arial"/>
                <a:cs typeface="Arial"/>
                <a:sym typeface="Arial"/>
              </a:rPr>
              <a:t>Optimization:</a:t>
            </a:r>
            <a:r>
              <a:rPr lang="en-US" sz="1400" b="0" i="0" u="none" strike="noStrike">
                <a:solidFill>
                  <a:srgbClr val="505050"/>
                </a:solidFill>
                <a:latin typeface="Arial"/>
                <a:ea typeface="Arial"/>
                <a:cs typeface="Arial"/>
                <a:sym typeface="Arial"/>
              </a:rPr>
              <a:t>Ongoing A/B testing and risk management training</a:t>
            </a:r>
            <a:endParaRPr lang="en-US" sz="1100"/>
          </a:p>
        </p:txBody>
      </p:sp>
      <p:graphicFrame>
        <p:nvGraphicFramePr>
          <p:cNvPr id="11" name="Table 11"/>
          <p:cNvGraphicFramePr>
            <a:graphicFrameLocks noGrp="1"/>
          </p:cNvGraphicFramePr>
          <p:nvPr/>
        </p:nvGraphicFramePr>
        <p:xfrm>
          <a:off x="508000" y="2857500"/>
          <a:ext cx="7112000" cy="27940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302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KPI Category</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Target</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Rationale</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5715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Acquisition</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20% Conversion Rate</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200" b="0" i="0" u="none" strike="noStrike">
                          <a:solidFill>
                            <a:srgbClr val="646464"/>
                          </a:solidFill>
                          <a:latin typeface="Noto Sans SC"/>
                          <a:ea typeface="Noto Sans SC"/>
                          <a:cs typeface="Noto Sans SC"/>
                          <a:sym typeface="Noto Sans SC"/>
                        </a:rPr>
                        <a:t>Industry benchmark for high-value clients</a:t>
                      </a:r>
                      <a:endParaRPr lang="en-US" sz="1100"/>
                    </a:p>
                  </a:txBody>
                  <a:tcPr marL="101600" marR="101600" marT="101600" marB="101600" anchor="ctr">
                    <a:lnL>
                      <a:noFill/>
                    </a:lnL>
                    <a:lnR>
                      <a:noFill/>
                    </a:lnR>
                    <a:lnT>
                      <a:noFill/>
                    </a:lnT>
                    <a:lnB>
                      <a:noFill/>
                    </a:lnB>
                    <a:solidFill>
                      <a:srgbClr val="EBF2FA">
                        <a:alpha val="100000"/>
                      </a:srgbClr>
                    </a:solidFill>
                  </a:tcPr>
                </a:tc>
                <a:extLst>
                  <a:ext uri="{0D108BD9-81ED-4DB2-BD59-A6C34878D82A}">
                    <a16:rowId xmlns:a16="http://schemas.microsoft.com/office/drawing/2014/main" val="10001"/>
                  </a:ext>
                </a:extLst>
              </a:tr>
              <a:tr h="5715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Revenue</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25% QoQ AUM Growth</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646464"/>
                          </a:solidFill>
                          <a:latin typeface="Noto Sans SC"/>
                          <a:ea typeface="Noto Sans SC"/>
                          <a:cs typeface="Noto Sans SC"/>
                          <a:sym typeface="Noto Sans SC"/>
                        </a:rPr>
                        <a:t>Reflects market expansion and cross-selling</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5715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Satisfaction</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NPS &gt;50</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200" b="0" i="0" u="none" strike="noStrike">
                          <a:solidFill>
                            <a:srgbClr val="646464"/>
                          </a:solidFill>
                          <a:latin typeface="Noto Sans SC"/>
                          <a:ea typeface="Noto Sans SC"/>
                          <a:cs typeface="Noto Sans SC"/>
                          <a:sym typeface="Noto Sans SC"/>
                        </a:rPr>
                        <a:t>Indicates strong client loyalty and advocacy</a:t>
                      </a:r>
                      <a:endParaRPr lang="en-US" sz="1100"/>
                    </a:p>
                  </a:txBody>
                  <a:tcPr marL="101600" marR="101600" marT="101600" marB="101600" anchor="ctr">
                    <a:lnL>
                      <a:noFill/>
                    </a:lnL>
                    <a:lnR>
                      <a:noFill/>
                    </a:lnR>
                    <a:lnT>
                      <a:noFill/>
                    </a:lnT>
                    <a:lnB>
                      <a:noFill/>
                    </a:lnB>
                    <a:solidFill>
                      <a:srgbClr val="EBF2FA">
                        <a:alpha val="100000"/>
                      </a:srgbClr>
                    </a:solidFill>
                  </a:tcPr>
                </a:tc>
                <a:extLst>
                  <a:ext uri="{0D108BD9-81ED-4DB2-BD59-A6C34878D82A}">
                    <a16:rowId xmlns:a16="http://schemas.microsoft.com/office/drawing/2014/main" val="10003"/>
                  </a:ext>
                </a:extLst>
              </a:tr>
              <a:tr h="5715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Efficiency</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15% Sales Cycle Reduction</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646464"/>
                          </a:solidFill>
                          <a:latin typeface="Noto Sans SC"/>
                          <a:ea typeface="Noto Sans SC"/>
                          <a:cs typeface="Noto Sans SC"/>
                          <a:sym typeface="Noto Sans SC"/>
                        </a:rPr>
                        <a:t>Driven by digital tools and training</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12" name="AutoShape 12"/>
          <p:cNvSpPr/>
          <p:nvPr/>
        </p:nvSpPr>
        <p:spPr>
          <a:xfrm>
            <a:off x="7874000" y="1397000"/>
            <a:ext cx="3810000" cy="4445000"/>
          </a:xfrm>
          <a:prstGeom prst="roundRect">
            <a:avLst>
              <a:gd name="adj" fmla="val 3333"/>
            </a:avLst>
          </a:prstGeom>
          <a:solidFill>
            <a:srgbClr val="FFD700">
              <a:alpha val="100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28000" y="1651000"/>
            <a:ext cx="609600" cy="609600"/>
          </a:xfrm>
          <a:prstGeom prst="rect">
            <a:avLst/>
          </a:prstGeom>
        </p:spPr>
      </p:pic>
      <p:sp>
        <p:nvSpPr>
          <p:cNvPr id="14" name="AutoShape 14"/>
          <p:cNvSpPr/>
          <p:nvPr/>
        </p:nvSpPr>
        <p:spPr>
          <a:xfrm>
            <a:off x="8128000" y="2286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Insight</a:t>
            </a:r>
            <a:endParaRPr lang="en-US" sz="1100"/>
          </a:p>
        </p:txBody>
      </p:sp>
      <p:cxnSp>
        <p:nvCxnSpPr>
          <p:cNvPr id="15" name="Connector 15"/>
          <p:cNvCxnSpPr/>
          <p:nvPr/>
        </p:nvCxnSpPr>
        <p:spPr>
          <a:xfrm rot="-14323">
            <a:off x="8128013" y="2787650"/>
            <a:ext cx="30480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16" name="AutoShape 16"/>
          <p:cNvSpPr/>
          <p:nvPr/>
        </p:nvSpPr>
        <p:spPr>
          <a:xfrm>
            <a:off x="8128000" y="2921000"/>
            <a:ext cx="330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33333"/>
                </a:solidFill>
                <a:latin typeface="Arial"/>
                <a:ea typeface="Arial"/>
                <a:cs typeface="Arial"/>
                <a:sym typeface="Arial"/>
              </a:rPr>
              <a:t>Data-driven decision-making is the cornerstone of our strategy. By rigorously tracking the KPIs outlined, we are confident in achieving the targeted</a:t>
            </a:r>
            <a:r>
              <a:rPr lang="en-GB" sz="1600" b="0" i="0" u="none" strike="noStrike" dirty="0">
                <a:solidFill>
                  <a:srgbClr val="333333"/>
                </a:solidFill>
                <a:latin typeface="Arial"/>
                <a:ea typeface="Arial"/>
                <a:cs typeface="Arial"/>
                <a:sym typeface="Arial"/>
              </a:rPr>
              <a:t> </a:t>
            </a:r>
            <a:r>
              <a:rPr lang="en-US" sz="1800" b="1" i="0" u="none" strike="noStrike" dirty="0">
                <a:solidFill>
                  <a:srgbClr val="003366"/>
                </a:solidFill>
                <a:latin typeface="Arial"/>
                <a:ea typeface="Arial"/>
                <a:cs typeface="Arial"/>
                <a:sym typeface="Arial"/>
              </a:rPr>
              <a:t>20% growth</a:t>
            </a:r>
            <a:r>
              <a:rPr lang="en-US" sz="1600" b="0" i="0" u="none" strike="noStrike" dirty="0">
                <a:solidFill>
                  <a:srgbClr val="333333"/>
                </a:solidFill>
                <a:latin typeface="Arial"/>
                <a:ea typeface="Arial"/>
                <a:cs typeface="Arial"/>
                <a:sym typeface="Arial"/>
              </a:rPr>
              <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FFFF"/>
                </a:solidFill>
                <a:latin typeface="Arial"/>
                <a:ea typeface="Arial"/>
                <a:cs typeface="Arial"/>
                <a:sym typeface="Arial"/>
              </a:rPr>
              <a:t>Week 3: AMCs and Market Positioning</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1397000"/>
            <a:ext cx="304800" cy="304800"/>
          </a:xfrm>
          <a:prstGeom prst="rect">
            <a:avLst/>
          </a:prstGeom>
        </p:spPr>
      </p:pic>
      <p:sp>
        <p:nvSpPr>
          <p:cNvPr id="6" name="AutoShape 6"/>
          <p:cNvSpPr/>
          <p:nvPr/>
        </p:nvSpPr>
        <p:spPr>
          <a:xfrm>
            <a:off x="889000" y="1371600"/>
            <a:ext cx="685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Concept:</a:t>
            </a:r>
            <a:r>
              <a:rPr lang="en-US" sz="1400" b="0" i="0" u="none" strike="noStrike">
                <a:solidFill>
                  <a:srgbClr val="333333"/>
                </a:solidFill>
                <a:latin typeface="Arial"/>
                <a:ea typeface="Arial"/>
                <a:cs typeface="Arial"/>
                <a:sym typeface="Arial"/>
              </a:rPr>
              <a:t>Active certificates with ISIN, distinct from structured products.</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 y="1905000"/>
            <a:ext cx="304800" cy="304800"/>
          </a:xfrm>
          <a:prstGeom prst="rect">
            <a:avLst/>
          </a:prstGeom>
        </p:spPr>
      </p:pic>
      <p:sp>
        <p:nvSpPr>
          <p:cNvPr id="8" name="AutoShape 8"/>
          <p:cNvSpPr/>
          <p:nvPr/>
        </p:nvSpPr>
        <p:spPr>
          <a:xfrm>
            <a:off x="889000" y="1879600"/>
            <a:ext cx="685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Trends:</a:t>
            </a:r>
            <a:r>
              <a:rPr lang="en-US" sz="1400" b="0" i="0" u="none" strike="noStrike">
                <a:solidFill>
                  <a:srgbClr val="333333"/>
                </a:solidFill>
                <a:latin typeface="Arial"/>
                <a:ea typeface="Arial"/>
                <a:cs typeface="Arial"/>
                <a:sym typeface="Arial"/>
              </a:rPr>
              <a:t>Evolution to Asset Reference Tokens (ART) for enhanced liquidity.</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000" y="2413000"/>
            <a:ext cx="304800" cy="304800"/>
          </a:xfrm>
          <a:prstGeom prst="rect">
            <a:avLst/>
          </a:prstGeom>
        </p:spPr>
      </p:pic>
      <p:sp>
        <p:nvSpPr>
          <p:cNvPr id="10" name="AutoShape 10"/>
          <p:cNvSpPr/>
          <p:nvPr/>
        </p:nvSpPr>
        <p:spPr>
          <a:xfrm>
            <a:off x="889000" y="2387600"/>
            <a:ext cx="685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Analysis:</a:t>
            </a:r>
            <a:r>
              <a:rPr lang="en-US" sz="1400" b="0" i="0" u="none" strike="noStrike">
                <a:solidFill>
                  <a:srgbClr val="333333"/>
                </a:solidFill>
                <a:latin typeface="Arial"/>
                <a:ea typeface="Arial"/>
                <a:cs typeface="Arial"/>
                <a:sym typeface="Arial"/>
              </a:rPr>
              <a:t>UBS (12.5% returns) &amp; Vontobel (Sharpe 0.75) show strong performance.</a:t>
            </a:r>
            <a:endParaRPr lang="en-US" sz="1100"/>
          </a:p>
        </p:txBody>
      </p:sp>
      <p:graphicFrame>
        <p:nvGraphicFramePr>
          <p:cNvPr id="11" name="Table 11"/>
          <p:cNvGraphicFramePr>
            <a:graphicFrameLocks noGrp="1"/>
          </p:cNvGraphicFramePr>
          <p:nvPr/>
        </p:nvGraphicFramePr>
        <p:xfrm>
          <a:off x="508000" y="3048000"/>
          <a:ext cx="7112000" cy="2413000"/>
        </p:xfrm>
        <a:graphic>
          <a:graphicData uri="http://schemas.openxmlformats.org/drawingml/2006/table">
            <a:tbl>
              <a:tblPr>
                <a:effectLst/>
              </a:tblPr>
              <a:tblGrid>
                <a:gridCol w="1651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AMC Product</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Issuer</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Key Metrics</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Analysis</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Equity Growth AMC</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UBS</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12.5% Annual Return</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l">
                        <a:lnSpc>
                          <a:spcPct val="100000"/>
                        </a:lnSpc>
                        <a:defRPr/>
                      </a:pPr>
                      <a:r>
                        <a:rPr lang="en-US" sz="1300" b="0" i="0" u="none" strike="noStrike">
                          <a:solidFill>
                            <a:srgbClr val="333333"/>
                          </a:solidFill>
                          <a:latin typeface="Noto Sans SC"/>
                          <a:ea typeface="Noto Sans SC"/>
                          <a:cs typeface="Noto Sans SC"/>
                          <a:sym typeface="Noto Sans SC"/>
                        </a:rPr>
                        <a:t>Strong vs. benchmark</a:t>
                      </a:r>
                      <a:endParaRPr lang="en-US" sz="1100"/>
                    </a:p>
                  </a:txBody>
                  <a:tcPr marL="101600" marR="101600" marT="101600" marB="101600" anchor="ctr">
                    <a:lnL>
                      <a:noFill/>
                    </a:lnL>
                    <a:lnR>
                      <a:noFill/>
                    </a:lnR>
                    <a:lnT>
                      <a:noFill/>
                    </a:lnT>
                    <a:lnB>
                      <a:noFill/>
                    </a:lnB>
                    <a:solidFill>
                      <a:srgbClr val="EBF2FA">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Multi-Asset AMC</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Vontobel</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Sharpe Ratio 0.75</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333333"/>
                          </a:solidFill>
                          <a:latin typeface="Noto Sans SC"/>
                          <a:ea typeface="Noto Sans SC"/>
                          <a:cs typeface="Noto Sans SC"/>
                          <a:sym typeface="Noto Sans SC"/>
                        </a:rPr>
                        <a:t>Good risk-adjusted returns</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ESG-Themed AMC</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BlackRock</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10% YTD Growth</a:t>
                      </a:r>
                      <a:endParaRPr lang="en-US" sz="1100"/>
                    </a:p>
                  </a:txBody>
                  <a:tcPr marL="101600" marR="101600" marT="101600" marB="101600" anchor="ctr">
                    <a:lnL>
                      <a:noFill/>
                    </a:lnL>
                    <a:lnR>
                      <a:noFill/>
                    </a:lnR>
                    <a:lnT>
                      <a:noFill/>
                    </a:lnT>
                    <a:lnB>
                      <a:noFill/>
                    </a:lnB>
                    <a:solidFill>
                      <a:srgbClr val="EBF2FA">
                        <a:alpha val="100000"/>
                      </a:srgbClr>
                    </a:solidFill>
                  </a:tcPr>
                </a:tc>
                <a:tc>
                  <a:txBody>
                    <a:bodyPr/>
                    <a:lstStyle/>
                    <a:p>
                      <a:pPr indent="0" algn="l">
                        <a:lnSpc>
                          <a:spcPct val="100000"/>
                        </a:lnSpc>
                        <a:defRPr/>
                      </a:pPr>
                      <a:r>
                        <a:rPr lang="en-US" sz="1300" b="0" i="0" u="none" strike="noStrike">
                          <a:solidFill>
                            <a:srgbClr val="333333"/>
                          </a:solidFill>
                          <a:latin typeface="Noto Sans SC"/>
                          <a:ea typeface="Noto Sans SC"/>
                          <a:cs typeface="Noto Sans SC"/>
                          <a:sym typeface="Noto Sans SC"/>
                        </a:rPr>
                        <a:t>Capitalizing on ESG trend</a:t>
                      </a:r>
                      <a:endParaRPr lang="en-US" sz="1100"/>
                    </a:p>
                  </a:txBody>
                  <a:tcPr marL="101600" marR="101600" marT="101600" marB="101600" anchor="ctr">
                    <a:lnL>
                      <a:noFill/>
                    </a:lnL>
                    <a:lnR>
                      <a:noFill/>
                    </a:lnR>
                    <a:lnT>
                      <a:noFill/>
                    </a:lnT>
                    <a:lnB>
                      <a:noFill/>
                    </a:lnB>
                    <a:solidFill>
                      <a:srgbClr val="EBF2FA">
                        <a:alpha val="100000"/>
                      </a:srgbClr>
                    </a:solidFill>
                  </a:tcPr>
                </a:tc>
                <a:extLst>
                  <a:ext uri="{0D108BD9-81ED-4DB2-BD59-A6C34878D82A}">
                    <a16:rowId xmlns:a16="http://schemas.microsoft.com/office/drawing/2014/main" val="10003"/>
                  </a:ext>
                </a:extLst>
              </a:tr>
            </a:tbl>
          </a:graphicData>
        </a:graphic>
      </p:graphicFrame>
      <p:sp>
        <p:nvSpPr>
          <p:cNvPr id="12" name="AutoShape 12"/>
          <p:cNvSpPr/>
          <p:nvPr/>
        </p:nvSpPr>
        <p:spPr>
          <a:xfrm>
            <a:off x="7874000" y="1397000"/>
            <a:ext cx="3810000" cy="4826000"/>
          </a:xfrm>
          <a:prstGeom prst="roundRect">
            <a:avLst>
              <a:gd name="adj" fmla="val 3333"/>
            </a:avLst>
          </a:prstGeom>
          <a:solidFill>
            <a:srgbClr val="FFD700">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28000" y="1651000"/>
            <a:ext cx="609600" cy="609600"/>
          </a:xfrm>
          <a:prstGeom prst="rect">
            <a:avLst/>
          </a:prstGeom>
        </p:spPr>
      </p:pic>
      <p:sp>
        <p:nvSpPr>
          <p:cNvPr id="14" name="AutoShape 14"/>
          <p:cNvSpPr/>
          <p:nvPr/>
        </p:nvSpPr>
        <p:spPr>
          <a:xfrm>
            <a:off x="8128000" y="23495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Insight</a:t>
            </a:r>
            <a:endParaRPr lang="en-US" sz="1100"/>
          </a:p>
        </p:txBody>
      </p:sp>
      <p:cxnSp>
        <p:nvCxnSpPr>
          <p:cNvPr id="15" name="Connector 15"/>
          <p:cNvCxnSpPr/>
          <p:nvPr/>
        </p:nvCxnSpPr>
        <p:spPr>
          <a:xfrm rot="-14323">
            <a:off x="8128013" y="2851150"/>
            <a:ext cx="3048000" cy="12700"/>
          </a:xfrm>
          <a:prstGeom prst="straightConnector1">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16" name="AutoShape 16"/>
          <p:cNvSpPr/>
          <p:nvPr/>
        </p:nvSpPr>
        <p:spPr>
          <a:xfrm>
            <a:off x="8128000" y="3048000"/>
            <a:ext cx="3302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Arial"/>
                <a:ea typeface="Arial"/>
                <a:cs typeface="Arial"/>
                <a:sym typeface="Arial"/>
              </a:rPr>
              <a:t>AMCs are evolving into a critical bridge connecting traditional financial instruments with emerging blockchain alternatives.</a:t>
            </a:r>
            <a:endParaRPr lang="en-US" sz="1100"/>
          </a:p>
          <a:p>
            <a:pPr indent="0" algn="l">
              <a:lnSpc>
                <a:spcPct val="125000"/>
              </a:lnSpc>
            </a:pPr>
            <a:endParaRPr lang="en-US" sz="1100"/>
          </a:p>
          <a:p>
            <a:pPr indent="0" algn="l">
              <a:lnSpc>
                <a:spcPct val="125000"/>
              </a:lnSpc>
            </a:pPr>
            <a:r>
              <a:rPr lang="en-US" sz="1400" b="0" i="0" u="none" strike="noStrike">
                <a:solidFill>
                  <a:srgbClr val="505050"/>
                </a:solidFill>
                <a:latin typeface="Arial"/>
                <a:ea typeface="Arial"/>
                <a:cs typeface="Arial"/>
                <a:sym typeface="Arial"/>
              </a:rPr>
              <a:t>Tokenization is not just a buzzword but a strategic move towards greater liquidity and broader market access.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912"/>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Week 3: Fundraising for Tokenized Portfolio</a:t>
            </a:r>
            <a:endParaRPr lang="en-US" sz="1100"/>
          </a:p>
        </p:txBody>
      </p:sp>
      <p:sp>
        <p:nvSpPr>
          <p:cNvPr id="5" name="AutoShape 5"/>
          <p:cNvSpPr/>
          <p:nvPr/>
        </p:nvSpPr>
        <p:spPr>
          <a:xfrm>
            <a:off x="508000" y="1397000"/>
            <a:ext cx="5588000" cy="1143000"/>
          </a:xfrm>
          <a:prstGeom prst="roundRect">
            <a:avLst>
              <a:gd name="adj" fmla="val 11111"/>
            </a:avLst>
          </a:prstGeom>
          <a:solidFill>
            <a:srgbClr val="FFFFFF">
              <a:alpha val="90000"/>
            </a:srgbClr>
          </a:solidFill>
          <a:ln w="25400" cap="flat" cmpd="sng">
            <a:noFill/>
            <a:prstDash val="solid"/>
            <a:round/>
          </a:ln>
          <a:effectLst>
            <a:outerShdw blurRad="1016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587500"/>
            <a:ext cx="406400" cy="406400"/>
          </a:xfrm>
          <a:prstGeom prst="rect">
            <a:avLst/>
          </a:prstGeom>
        </p:spPr>
      </p:pic>
      <p:sp>
        <p:nvSpPr>
          <p:cNvPr id="7" name="AutoShape 7"/>
          <p:cNvSpPr/>
          <p:nvPr/>
        </p:nvSpPr>
        <p:spPr>
          <a:xfrm>
            <a:off x="1270000" y="15494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Target Investors &amp; AUM</a:t>
            </a:r>
            <a:endParaRPr lang="en-US" sz="1100"/>
          </a:p>
          <a:p>
            <a:pPr indent="0" algn="l">
              <a:lnSpc>
                <a:spcPct val="125000"/>
              </a:lnSpc>
            </a:pPr>
            <a:r>
              <a:rPr lang="en-US" sz="1400" b="0" i="0" u="none" strike="noStrike">
                <a:solidFill>
                  <a:srgbClr val="505050"/>
                </a:solidFill>
                <a:latin typeface="Arial"/>
                <a:ea typeface="Arial"/>
                <a:cs typeface="Arial"/>
                <a:sym typeface="Arial"/>
              </a:rPr>
              <a:t>Securing 12 key investors (e.g., Temasek) for a $5M AUM target.</a:t>
            </a:r>
          </a:p>
        </p:txBody>
      </p:sp>
      <p:sp>
        <p:nvSpPr>
          <p:cNvPr id="8" name="AutoShape 8"/>
          <p:cNvSpPr/>
          <p:nvPr/>
        </p:nvSpPr>
        <p:spPr>
          <a:xfrm>
            <a:off x="508000" y="2730500"/>
            <a:ext cx="5588000" cy="1143000"/>
          </a:xfrm>
          <a:prstGeom prst="roundRect">
            <a:avLst>
              <a:gd name="adj" fmla="val 11111"/>
            </a:avLst>
          </a:prstGeom>
          <a:solidFill>
            <a:srgbClr val="FFFFFF">
              <a:alpha val="90000"/>
            </a:srgbClr>
          </a:solidFill>
          <a:ln w="25400" cap="flat" cmpd="sng">
            <a:noFill/>
            <a:prstDash val="solid"/>
            <a:round/>
          </a:ln>
          <a:effectLst>
            <a:outerShdw blurRad="1016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2921000"/>
            <a:ext cx="406400" cy="406400"/>
          </a:xfrm>
          <a:prstGeom prst="rect">
            <a:avLst/>
          </a:prstGeom>
        </p:spPr>
      </p:pic>
      <p:sp>
        <p:nvSpPr>
          <p:cNvPr id="10" name="AutoShape 10"/>
          <p:cNvSpPr/>
          <p:nvPr/>
        </p:nvSpPr>
        <p:spPr>
          <a:xfrm>
            <a:off x="1270000" y="28829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Strategic Plan &amp; Compliance</a:t>
            </a:r>
            <a:endParaRPr lang="en-US" sz="1100"/>
          </a:p>
          <a:p>
            <a:pPr indent="0" algn="l">
              <a:lnSpc>
                <a:spcPct val="125000"/>
              </a:lnSpc>
            </a:pPr>
            <a:r>
              <a:rPr lang="en-US" sz="1400" b="0" i="0" u="none" strike="noStrike">
                <a:solidFill>
                  <a:srgbClr val="505050"/>
                </a:solidFill>
                <a:latin typeface="Arial"/>
                <a:ea typeface="Arial"/>
                <a:cs typeface="Arial"/>
                <a:sym typeface="Arial"/>
              </a:rPr>
              <a:t>Launching Global Macro ART with 1.5% fees, fully MiCA-compliant.</a:t>
            </a:r>
          </a:p>
        </p:txBody>
      </p:sp>
      <p:sp>
        <p:nvSpPr>
          <p:cNvPr id="11" name="AutoShape 11"/>
          <p:cNvSpPr/>
          <p:nvPr/>
        </p:nvSpPr>
        <p:spPr>
          <a:xfrm>
            <a:off x="508000" y="4064000"/>
            <a:ext cx="5588000" cy="1143000"/>
          </a:xfrm>
          <a:prstGeom prst="roundRect">
            <a:avLst>
              <a:gd name="adj" fmla="val 11111"/>
            </a:avLst>
          </a:prstGeom>
          <a:solidFill>
            <a:srgbClr val="FFFFFF">
              <a:alpha val="90000"/>
            </a:srgbClr>
          </a:solidFill>
          <a:ln w="25400" cap="flat" cmpd="sng">
            <a:noFill/>
            <a:prstDash val="solid"/>
            <a:round/>
          </a:ln>
          <a:effectLst>
            <a:outerShdw blurRad="1016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254500"/>
            <a:ext cx="406400" cy="406400"/>
          </a:xfrm>
          <a:prstGeom prst="rect">
            <a:avLst/>
          </a:prstGeom>
        </p:spPr>
      </p:pic>
      <p:sp>
        <p:nvSpPr>
          <p:cNvPr id="13" name="AutoShape 13"/>
          <p:cNvSpPr/>
          <p:nvPr/>
        </p:nvSpPr>
        <p:spPr>
          <a:xfrm>
            <a:off x="1270000" y="42164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Fee Structure</a:t>
            </a:r>
            <a:endParaRPr lang="en-US" sz="1100"/>
          </a:p>
          <a:p>
            <a:pPr indent="0" algn="l">
              <a:lnSpc>
                <a:spcPct val="125000"/>
              </a:lnSpc>
            </a:pPr>
            <a:r>
              <a:rPr lang="en-US" sz="1400" b="0" i="0" u="none" strike="noStrike">
                <a:solidFill>
                  <a:srgbClr val="505050"/>
                </a:solidFill>
                <a:latin typeface="Arial"/>
                <a:ea typeface="Arial"/>
                <a:cs typeface="Arial"/>
                <a:sym typeface="Arial"/>
              </a:rPr>
              <a:t>Standard structure combining management fees and performance fees.</a:t>
            </a:r>
          </a:p>
        </p:txBody>
      </p:sp>
      <p:sp>
        <p:nvSpPr>
          <p:cNvPr id="14" name="AutoShape 14"/>
          <p:cNvSpPr/>
          <p:nvPr/>
        </p:nvSpPr>
        <p:spPr>
          <a:xfrm>
            <a:off x="508000" y="5397500"/>
            <a:ext cx="5588000" cy="1143000"/>
          </a:xfrm>
          <a:prstGeom prst="roundRect">
            <a:avLst>
              <a:gd name="adj" fmla="val 11111"/>
            </a:avLst>
          </a:prstGeom>
          <a:solidFill>
            <a:srgbClr val="FFFFFF">
              <a:alpha val="90000"/>
            </a:srgbClr>
          </a:solidFill>
          <a:ln w="25400" cap="flat" cmpd="sng">
            <a:noFill/>
            <a:prstDash val="solid"/>
            <a:round/>
          </a:ln>
          <a:effectLst>
            <a:outerShdw blurRad="1016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 y="5588000"/>
            <a:ext cx="406400" cy="406400"/>
          </a:xfrm>
          <a:prstGeom prst="rect">
            <a:avLst/>
          </a:prstGeom>
        </p:spPr>
      </p:pic>
      <p:sp>
        <p:nvSpPr>
          <p:cNvPr id="16" name="AutoShape 16"/>
          <p:cNvSpPr/>
          <p:nvPr/>
        </p:nvSpPr>
        <p:spPr>
          <a:xfrm>
            <a:off x="1270000" y="55499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Market Opportunities</a:t>
            </a:r>
            <a:endParaRPr lang="en-US" sz="1100"/>
          </a:p>
          <a:p>
            <a:pPr indent="0" algn="l">
              <a:lnSpc>
                <a:spcPct val="125000"/>
              </a:lnSpc>
            </a:pPr>
            <a:r>
              <a:rPr lang="en-US" sz="1400" b="0" i="0" u="none" strike="noStrike">
                <a:solidFill>
                  <a:srgbClr val="505050"/>
                </a:solidFill>
                <a:latin typeface="Arial"/>
                <a:ea typeface="Arial"/>
                <a:cs typeface="Arial"/>
                <a:sym typeface="Arial"/>
              </a:rPr>
              <a:t>Enabling fractional ownership in high-value equities and commodities.</a:t>
            </a:r>
          </a:p>
        </p:txBody>
      </p:sp>
      <p:sp>
        <p:nvSpPr>
          <p:cNvPr id="17" name="AutoShape 17"/>
          <p:cNvSpPr/>
          <p:nvPr/>
        </p:nvSpPr>
        <p:spPr>
          <a:xfrm>
            <a:off x="6350000" y="1397000"/>
            <a:ext cx="5334000" cy="5143500"/>
          </a:xfrm>
          <a:prstGeom prst="roundRect">
            <a:avLst>
              <a:gd name="adj" fmla="val 2469"/>
            </a:avLst>
          </a:prstGeom>
          <a:solidFill>
            <a:srgbClr val="FFD700">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29400" y="1663700"/>
            <a:ext cx="609600" cy="609600"/>
          </a:xfrm>
          <a:prstGeom prst="rect">
            <a:avLst/>
          </a:prstGeom>
        </p:spPr>
      </p:pic>
      <p:sp>
        <p:nvSpPr>
          <p:cNvPr id="19" name="AutoShape 19"/>
          <p:cNvSpPr/>
          <p:nvPr/>
        </p:nvSpPr>
        <p:spPr>
          <a:xfrm>
            <a:off x="7366000" y="1524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003366"/>
                </a:solidFill>
                <a:latin typeface="Arial"/>
                <a:ea typeface="Arial"/>
                <a:cs typeface="Arial"/>
                <a:sym typeface="Arial"/>
              </a:rPr>
              <a:t>Key Insight</a:t>
            </a:r>
            <a:endParaRPr lang="en-US" sz="1100" dirty="0"/>
          </a:p>
        </p:txBody>
      </p:sp>
      <p:cxnSp>
        <p:nvCxnSpPr>
          <p:cNvPr id="20" name="Connector 20"/>
          <p:cNvCxnSpPr/>
          <p:nvPr/>
        </p:nvCxnSpPr>
        <p:spPr>
          <a:xfrm rot="-9549">
            <a:off x="6731009" y="2470150"/>
            <a:ext cx="4572000" cy="12700"/>
          </a:xfrm>
          <a:prstGeom prst="straightConnector1">
            <a:avLst/>
          </a:prstGeom>
          <a:solidFill>
            <a:srgbClr val="DEE0E3">
              <a:alpha val="100000"/>
            </a:srgbClr>
          </a:solidFill>
          <a:ln w="25400" cap="flat" cmpd="sng">
            <a:solidFill>
              <a:srgbClr val="003366">
                <a:alpha val="30000"/>
              </a:srgbClr>
            </a:solidFill>
            <a:prstDash val="solid"/>
            <a:round/>
            <a:headEnd type="none" w="lg" len="lg"/>
            <a:tailEnd type="none" w="lg" len="lg"/>
          </a:ln>
        </p:spPr>
      </p:cxnSp>
      <p:sp>
        <p:nvSpPr>
          <p:cNvPr id="21" name="AutoShape 21"/>
          <p:cNvSpPr/>
          <p:nvPr/>
        </p:nvSpPr>
        <p:spPr>
          <a:xfrm>
            <a:off x="6731000" y="3225016"/>
            <a:ext cx="4572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3366"/>
                </a:solidFill>
                <a:latin typeface="Arial"/>
                <a:ea typeface="Arial"/>
                <a:cs typeface="Arial"/>
                <a:sym typeface="Arial"/>
              </a:rPr>
              <a:t>$10K Minimum Threshold</a:t>
            </a:r>
            <a:endParaRPr lang="en-US" sz="1100" dirty="0"/>
          </a:p>
          <a:p>
            <a:pPr indent="0" algn="l">
              <a:lnSpc>
                <a:spcPct val="125000"/>
              </a:lnSpc>
            </a:pPr>
            <a:endParaRPr lang="en-GB" sz="1600" dirty="0">
              <a:solidFill>
                <a:srgbClr val="1F2329"/>
              </a:solidFill>
            </a:endParaRPr>
          </a:p>
          <a:p>
            <a:pPr indent="0" algn="l">
              <a:lnSpc>
                <a:spcPct val="125000"/>
              </a:lnSpc>
            </a:pPr>
            <a:r>
              <a:rPr lang="en-US" sz="1600" b="0" i="0" u="none" strike="noStrike" dirty="0">
                <a:solidFill>
                  <a:srgbClr val="1E1E1E"/>
                </a:solidFill>
                <a:latin typeface="Arial"/>
                <a:ea typeface="Arial"/>
                <a:cs typeface="Arial"/>
                <a:sym typeface="Arial"/>
              </a:rPr>
              <a:t>By setting a low entry barrier of $10,000, we are not just lowering the cost of entry but fundamentally changing the accessibility of the market.</a:t>
            </a:r>
          </a:p>
          <a:p>
            <a:pPr indent="0" algn="l">
              <a:lnSpc>
                <a:spcPct val="125000"/>
              </a:lnSpc>
            </a:pPr>
            <a:br>
              <a:rPr lang="en-US" sz="1600" b="0" i="0" u="none" strike="noStrike" dirty="0">
                <a:solidFill>
                  <a:srgbClr val="1F2329"/>
                </a:solidFill>
                <a:latin typeface="Arial"/>
                <a:ea typeface="Arial"/>
                <a:cs typeface="Arial"/>
                <a:sym typeface="Arial"/>
              </a:rPr>
            </a:br>
            <a:endParaRPr lang="en-US" sz="1600" b="0" i="0" u="none" strike="noStrike" dirty="0">
              <a:solidFill>
                <a:srgbClr val="1F2329"/>
              </a:solidFill>
              <a:latin typeface="Arial"/>
              <a:ea typeface="Arial"/>
              <a:cs typeface="Arial"/>
              <a:sym typeface="Arial"/>
            </a:endParaRPr>
          </a:p>
          <a:p>
            <a:pPr indent="0" algn="l">
              <a:lnSpc>
                <a:spcPct val="125000"/>
              </a:lnSpc>
            </a:pPr>
            <a:r>
              <a:rPr lang="en-US" sz="1600" b="0" i="0" u="none" strike="noStrike" dirty="0">
                <a:solidFill>
                  <a:srgbClr val="1E1E1E"/>
                </a:solidFill>
                <a:latin typeface="Arial"/>
                <a:ea typeface="Arial"/>
                <a:cs typeface="Arial"/>
                <a:sym typeface="Arial"/>
              </a:rPr>
              <a:t>This democratizes access to high-end macro assets, opening the door to a broader base of sophisticated investors who were previously excluded.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FFFF"/>
                </a:solidFill>
                <a:latin typeface="Arial"/>
                <a:ea typeface="Arial"/>
                <a:cs typeface="Arial"/>
                <a:sym typeface="Arial"/>
              </a:rPr>
              <a:t>Week 3: Pitch Preparation and Feedback</a:t>
            </a:r>
            <a:endParaRPr lang="en-US" sz="1100"/>
          </a:p>
        </p:txBody>
      </p:sp>
      <p:sp>
        <p:nvSpPr>
          <p:cNvPr id="5" name="AutoShape 5"/>
          <p:cNvSpPr/>
          <p:nvPr/>
        </p:nvSpPr>
        <p:spPr>
          <a:xfrm>
            <a:off x="508000" y="1397000"/>
            <a:ext cx="5461000" cy="1397000"/>
          </a:xfrm>
          <a:prstGeom prst="roundRect">
            <a:avLst>
              <a:gd name="adj" fmla="val 9090"/>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651000"/>
            <a:ext cx="406400" cy="406400"/>
          </a:xfrm>
          <a:prstGeom prst="rect">
            <a:avLst/>
          </a:prstGeom>
        </p:spPr>
      </p:pic>
      <p:sp>
        <p:nvSpPr>
          <p:cNvPr id="7" name="AutoShape 7"/>
          <p:cNvSpPr/>
          <p:nvPr/>
        </p:nvSpPr>
        <p:spPr>
          <a:xfrm>
            <a:off x="1270000" y="1625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Deck Preparation</a:t>
            </a:r>
            <a:endParaRPr lang="en-US" sz="1100"/>
          </a:p>
        </p:txBody>
      </p:sp>
      <p:sp>
        <p:nvSpPr>
          <p:cNvPr id="8" name="AutoShape 8"/>
          <p:cNvSpPr/>
          <p:nvPr/>
        </p:nvSpPr>
        <p:spPr>
          <a:xfrm>
            <a:off x="1270000" y="1968500"/>
            <a:ext cx="444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Arial"/>
                <a:ea typeface="Arial"/>
                <a:cs typeface="Arial"/>
                <a:sym typeface="Arial"/>
              </a:rPr>
              <a:t>Finalized 1-pager mandate covering strategy, fees, and asset allocation details.</a:t>
            </a:r>
            <a:endParaRPr lang="en-US" sz="1100"/>
          </a:p>
        </p:txBody>
      </p:sp>
      <p:sp>
        <p:nvSpPr>
          <p:cNvPr id="9" name="AutoShape 9"/>
          <p:cNvSpPr/>
          <p:nvPr/>
        </p:nvSpPr>
        <p:spPr>
          <a:xfrm>
            <a:off x="508000" y="2984500"/>
            <a:ext cx="5461000" cy="1397000"/>
          </a:xfrm>
          <a:prstGeom prst="roundRect">
            <a:avLst>
              <a:gd name="adj" fmla="val 9090"/>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238500"/>
            <a:ext cx="406400" cy="406400"/>
          </a:xfrm>
          <a:prstGeom prst="rect">
            <a:avLst/>
          </a:prstGeom>
        </p:spPr>
      </p:pic>
      <p:sp>
        <p:nvSpPr>
          <p:cNvPr id="11" name="AutoShape 11"/>
          <p:cNvSpPr/>
          <p:nvPr/>
        </p:nvSpPr>
        <p:spPr>
          <a:xfrm>
            <a:off x="1270000" y="32131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Simulation &amp; Feedback</a:t>
            </a:r>
            <a:endParaRPr lang="en-US" sz="1100"/>
          </a:p>
        </p:txBody>
      </p:sp>
      <p:sp>
        <p:nvSpPr>
          <p:cNvPr id="12" name="AutoShape 12"/>
          <p:cNvSpPr/>
          <p:nvPr/>
        </p:nvSpPr>
        <p:spPr>
          <a:xfrm>
            <a:off x="1270000" y="3556000"/>
            <a:ext cx="444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Arial"/>
                <a:ea typeface="Arial"/>
                <a:cs typeface="Arial"/>
                <a:sym typeface="Arial"/>
              </a:rPr>
              <a:t>Conducted 3 simulations; updated materials to include risk factors and benchmarks based on input.</a:t>
            </a:r>
            <a:endParaRPr lang="en-US" sz="1100"/>
          </a:p>
        </p:txBody>
      </p:sp>
      <p:sp>
        <p:nvSpPr>
          <p:cNvPr id="13" name="AutoShape 13"/>
          <p:cNvSpPr/>
          <p:nvPr/>
        </p:nvSpPr>
        <p:spPr>
          <a:xfrm>
            <a:off x="508000" y="4572000"/>
            <a:ext cx="5461000" cy="1397000"/>
          </a:xfrm>
          <a:prstGeom prst="roundRect">
            <a:avLst>
              <a:gd name="adj" fmla="val 9090"/>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826000"/>
            <a:ext cx="406400" cy="406400"/>
          </a:xfrm>
          <a:prstGeom prst="rect">
            <a:avLst/>
          </a:prstGeom>
        </p:spPr>
      </p:pic>
      <p:sp>
        <p:nvSpPr>
          <p:cNvPr id="15" name="AutoShape 15"/>
          <p:cNvSpPr/>
          <p:nvPr/>
        </p:nvSpPr>
        <p:spPr>
          <a:xfrm>
            <a:off x="1270000" y="4800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Key Learning</a:t>
            </a:r>
            <a:endParaRPr lang="en-US" sz="1100"/>
          </a:p>
        </p:txBody>
      </p:sp>
      <p:sp>
        <p:nvSpPr>
          <p:cNvPr id="16" name="AutoShape 16"/>
          <p:cNvSpPr/>
          <p:nvPr/>
        </p:nvSpPr>
        <p:spPr>
          <a:xfrm>
            <a:off x="1270000" y="5143500"/>
            <a:ext cx="444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Arial"/>
                <a:ea typeface="Arial"/>
                <a:cs typeface="Arial"/>
                <a:sym typeface="Arial"/>
              </a:rPr>
              <a:t>Importance of tailoring pitch materials to match the specific preferences of professional investors.</a:t>
            </a:r>
            <a:endParaRPr lang="en-US" sz="1100"/>
          </a:p>
        </p:txBody>
      </p:sp>
      <p:sp>
        <p:nvSpPr>
          <p:cNvPr id="17" name="AutoShape 17"/>
          <p:cNvSpPr/>
          <p:nvPr/>
        </p:nvSpPr>
        <p:spPr>
          <a:xfrm>
            <a:off x="6223000" y="1397000"/>
            <a:ext cx="5461000" cy="4572000"/>
          </a:xfrm>
          <a:prstGeom prst="roundRect">
            <a:avLst>
              <a:gd name="adj" fmla="val 2777"/>
            </a:avLst>
          </a:prstGeom>
          <a:solidFill>
            <a:srgbClr val="FFD700">
              <a:alpha val="100000"/>
            </a:srgbClr>
          </a:solidFill>
          <a:ln w="25400" cap="flat" cmpd="sng">
            <a:noFill/>
            <a:prstDash val="solid"/>
            <a:round/>
          </a:ln>
          <a:effectLst>
            <a:outerShdw blurRad="190500" dist="762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1778000"/>
            <a:ext cx="609600" cy="609600"/>
          </a:xfrm>
          <a:prstGeom prst="rect">
            <a:avLst/>
          </a:prstGeom>
        </p:spPr>
      </p:pic>
      <p:sp>
        <p:nvSpPr>
          <p:cNvPr id="19" name="AutoShape 19"/>
          <p:cNvSpPr/>
          <p:nvPr/>
        </p:nvSpPr>
        <p:spPr>
          <a:xfrm>
            <a:off x="6604000" y="2413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Arial"/>
                <a:ea typeface="Arial"/>
                <a:cs typeface="Arial"/>
                <a:sym typeface="Arial"/>
              </a:rPr>
              <a:t>Strategic Insight</a:t>
            </a:r>
            <a:endParaRPr lang="en-US" sz="1100"/>
          </a:p>
        </p:txBody>
      </p:sp>
      <p:cxnSp>
        <p:nvCxnSpPr>
          <p:cNvPr id="20" name="Connector 20"/>
          <p:cNvCxnSpPr/>
          <p:nvPr/>
        </p:nvCxnSpPr>
        <p:spPr>
          <a:xfrm rot="-9549">
            <a:off x="6604009" y="2978150"/>
            <a:ext cx="45720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21" name="AutoShape 21"/>
          <p:cNvSpPr/>
          <p:nvPr/>
        </p:nvSpPr>
        <p:spPr>
          <a:xfrm>
            <a:off x="6604000" y="3175000"/>
            <a:ext cx="4699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MiCA Compliance as a Gateway</a:t>
            </a:r>
            <a:endParaRPr lang="en-US" sz="1100"/>
          </a:p>
          <a:p>
            <a:pPr indent="0" algn="l">
              <a:lnSpc>
                <a:spcPct val="125000"/>
              </a:lnSpc>
            </a:pPr>
            <a:br>
              <a:rPr lang="en-US" sz="1600" b="0" i="0" u="none" strike="noStrike">
                <a:solidFill>
                  <a:srgbClr val="1F2329"/>
                </a:solidFill>
                <a:latin typeface="Arial"/>
                <a:ea typeface="Arial"/>
                <a:cs typeface="Arial"/>
                <a:sym typeface="Arial"/>
              </a:rPr>
            </a:br>
            <a:endParaRPr lang="en-US" sz="1600" b="0" i="0" u="none" strike="noStrike">
              <a:solidFill>
                <a:srgbClr val="1F2329"/>
              </a:solidFill>
              <a:latin typeface="Arial"/>
              <a:ea typeface="Arial"/>
              <a:cs typeface="Arial"/>
              <a:sym typeface="Arial"/>
            </a:endParaRPr>
          </a:p>
          <a:p>
            <a:pPr indent="0" algn="l">
              <a:lnSpc>
                <a:spcPct val="125000"/>
              </a:lnSpc>
            </a:pPr>
            <a:r>
              <a:rPr lang="en-US" sz="1400" b="0" i="0" u="none" strike="noStrike">
                <a:solidFill>
                  <a:srgbClr val="323232"/>
                </a:solidFill>
                <a:latin typeface="Arial"/>
                <a:ea typeface="Arial"/>
                <a:cs typeface="Arial"/>
                <a:sym typeface="Arial"/>
              </a:rPr>
              <a:t>Adhering to the Markets in Crypto-Assets (MiCA) regulation is not just a legal requirement but a strategic enabler for future expansion into the European and Asian markets.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889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Arial"/>
                <a:ea typeface="Arial"/>
                <a:cs typeface="Arial"/>
                <a:sym typeface="Arial"/>
              </a:rPr>
              <a:t>Week 4: Private Debt Trends and Players</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1143000"/>
            <a:ext cx="304800" cy="304800"/>
          </a:xfrm>
          <a:prstGeom prst="rect">
            <a:avLst/>
          </a:prstGeom>
        </p:spPr>
      </p:pic>
      <p:sp>
        <p:nvSpPr>
          <p:cNvPr id="6" name="AutoShape 6"/>
          <p:cNvSpPr/>
          <p:nvPr/>
        </p:nvSpPr>
        <p:spPr>
          <a:xfrm>
            <a:off x="762000" y="1117600"/>
            <a:ext cx="711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Market Size &amp; Growth:</a:t>
            </a:r>
            <a:r>
              <a:rPr lang="en-US" sz="1400" b="0" i="0" u="none" strike="noStrike">
                <a:solidFill>
                  <a:srgbClr val="505050"/>
                </a:solidFill>
                <a:latin typeface="Arial"/>
                <a:ea typeface="Arial"/>
                <a:cs typeface="Arial"/>
                <a:sym typeface="Arial"/>
              </a:rPr>
              <a:t>$2T Global AUM, 15% CAGR in Asia (Source: Preqin)</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 y="1524000"/>
            <a:ext cx="304800" cy="304800"/>
          </a:xfrm>
          <a:prstGeom prst="rect">
            <a:avLst/>
          </a:prstGeom>
        </p:spPr>
      </p:pic>
      <p:sp>
        <p:nvSpPr>
          <p:cNvPr id="8" name="AutoShape 8"/>
          <p:cNvSpPr/>
          <p:nvPr/>
        </p:nvSpPr>
        <p:spPr>
          <a:xfrm>
            <a:off x="762000" y="1498600"/>
            <a:ext cx="711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Key Trends:</a:t>
            </a:r>
            <a:r>
              <a:rPr lang="en-US" sz="1400" b="0" i="0" u="none" strike="noStrike">
                <a:solidFill>
                  <a:srgbClr val="505050"/>
                </a:solidFill>
                <a:latin typeface="Arial"/>
                <a:ea typeface="Arial"/>
                <a:cs typeface="Arial"/>
                <a:sym typeface="Arial"/>
              </a:rPr>
              <a:t>Strong refinancing demand with average yields at ~10%</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1000" y="1905000"/>
            <a:ext cx="304800" cy="304800"/>
          </a:xfrm>
          <a:prstGeom prst="rect">
            <a:avLst/>
          </a:prstGeom>
        </p:spPr>
      </p:pic>
      <p:sp>
        <p:nvSpPr>
          <p:cNvPr id="10" name="AutoShape 10"/>
          <p:cNvSpPr/>
          <p:nvPr/>
        </p:nvSpPr>
        <p:spPr>
          <a:xfrm>
            <a:off x="762000" y="1879600"/>
            <a:ext cx="711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Arial"/>
                <a:ea typeface="Arial"/>
                <a:cs typeface="Arial"/>
                <a:sym typeface="Arial"/>
              </a:rPr>
              <a:t>Major Players:</a:t>
            </a:r>
            <a:r>
              <a:rPr lang="en-US" sz="1400" b="0" i="0" u="none" strike="noStrike">
                <a:solidFill>
                  <a:srgbClr val="505050"/>
                </a:solidFill>
                <a:latin typeface="Arial"/>
                <a:ea typeface="Arial"/>
                <a:cs typeface="Arial"/>
                <a:sym typeface="Arial"/>
              </a:rPr>
              <a:t>Ares ($450B), PAG (HK Focus), Blackstone ($300B)</a:t>
            </a:r>
            <a:endParaRPr lang="en-US" sz="1100"/>
          </a:p>
        </p:txBody>
      </p:sp>
      <p:graphicFrame>
        <p:nvGraphicFramePr>
          <p:cNvPr id="11" name="Table 11"/>
          <p:cNvGraphicFramePr>
            <a:graphicFrameLocks noGrp="1"/>
          </p:cNvGraphicFramePr>
          <p:nvPr/>
        </p:nvGraphicFramePr>
        <p:xfrm>
          <a:off x="381000" y="2413000"/>
          <a:ext cx="7366000" cy="277368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4064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Player</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AUM</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Focus</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Insights</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457200">
                <a:tc>
                  <a:txBody>
                    <a:bodyPr/>
                    <a:lstStyle/>
                    <a:p>
                      <a:pPr indent="0" algn="ctr">
                        <a:lnSpc>
                          <a:spcPct val="100000"/>
                        </a:lnSpc>
                        <a:defRPr/>
                      </a:pPr>
                      <a:r>
                        <a:rPr lang="en-US" sz="1100" b="0" i="0" u="none" strike="noStrike">
                          <a:solidFill>
                            <a:srgbClr val="1F2329"/>
                          </a:solidFill>
                          <a:latin typeface="Arial"/>
                          <a:ea typeface="Arial"/>
                          <a:cs typeface="Arial"/>
                          <a:sym typeface="Arial"/>
                        </a:rPr>
                        <a:t>Ares Management</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$450B</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Global Private Credit</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Largest player with diversified portfolio</a:t>
                      </a:r>
                      <a:endParaRPr lang="en-US" sz="1100"/>
                    </a:p>
                  </a:txBody>
                  <a:tcPr marL="101600" marR="101600" marT="101600" marB="101600" anchor="ctr">
                    <a:lnL>
                      <a:noFill/>
                    </a:lnL>
                    <a:lnR>
                      <a:noFill/>
                    </a:lnR>
                    <a:lnT>
                      <a:noFill/>
                    </a:lnT>
                    <a:lnB>
                      <a:noFill/>
                    </a:lnB>
                    <a:solidFill>
                      <a:srgbClr val="FFFFFF">
                        <a:alpha val="90000"/>
                      </a:srgbClr>
                    </a:solidFill>
                  </a:tcPr>
                </a:tc>
                <a:extLst>
                  <a:ext uri="{0D108BD9-81ED-4DB2-BD59-A6C34878D82A}">
                    <a16:rowId xmlns:a16="http://schemas.microsoft.com/office/drawing/2014/main" val="10001"/>
                  </a:ext>
                </a:extLst>
              </a:tr>
              <a:tr h="457200">
                <a:tc>
                  <a:txBody>
                    <a:bodyPr/>
                    <a:lstStyle/>
                    <a:p>
                      <a:pPr indent="0" algn="ctr">
                        <a:lnSpc>
                          <a:spcPct val="100000"/>
                        </a:lnSpc>
                        <a:defRPr/>
                      </a:pPr>
                      <a:r>
                        <a:rPr lang="en-US" sz="1100" b="0" i="0" u="none" strike="noStrike">
                          <a:solidFill>
                            <a:srgbClr val="1F2329"/>
                          </a:solidFill>
                          <a:latin typeface="Arial"/>
                          <a:ea typeface="Arial"/>
                          <a:cs typeface="Arial"/>
                          <a:sym typeface="Arial"/>
                        </a:rPr>
                        <a:t>PAG</a:t>
                      </a:r>
                      <a:endParaRPr lang="en-US" sz="1100"/>
                    </a:p>
                  </a:txBody>
                  <a:tcPr marL="101600" marR="101600" marT="101600" marB="101600" anchor="ctr">
                    <a:lnL>
                      <a:noFill/>
                    </a:lnL>
                    <a:lnR>
                      <a:noFill/>
                    </a:lnR>
                    <a:lnT>
                      <a:noFill/>
                    </a:lnT>
                    <a:lnB>
                      <a:noFill/>
                    </a:lnB>
                    <a:solidFill>
                      <a:srgbClr val="F0F2F5">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$50B</a:t>
                      </a:r>
                      <a:endParaRPr lang="en-US" sz="1100"/>
                    </a:p>
                  </a:txBody>
                  <a:tcPr marL="101600" marR="101600" marT="101600" marB="101600" anchor="ctr">
                    <a:lnL>
                      <a:noFill/>
                    </a:lnL>
                    <a:lnR>
                      <a:noFill/>
                    </a:lnR>
                    <a:lnT>
                      <a:noFill/>
                    </a:lnT>
                    <a:lnB>
                      <a:noFill/>
                    </a:lnB>
                    <a:solidFill>
                      <a:srgbClr val="F0F2F5">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Asia Real Estate Debt</a:t>
                      </a:r>
                      <a:endParaRPr lang="en-US" sz="1100"/>
                    </a:p>
                  </a:txBody>
                  <a:tcPr marL="101600" marR="101600" marT="101600" marB="101600" anchor="ctr">
                    <a:lnL>
                      <a:noFill/>
                    </a:lnL>
                    <a:lnR>
                      <a:noFill/>
                    </a:lnR>
                    <a:lnT>
                      <a:noFill/>
                    </a:lnT>
                    <a:lnB>
                      <a:noFill/>
                    </a:lnB>
                    <a:solidFill>
                      <a:srgbClr val="F0F2F5">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Key player focusing on Hong Kong market</a:t>
                      </a:r>
                      <a:endParaRPr lang="en-US" sz="1100"/>
                    </a:p>
                  </a:txBody>
                  <a:tcPr marL="101600" marR="101600" marT="101600" marB="101600" anchor="ctr">
                    <a:lnL>
                      <a:noFill/>
                    </a:lnL>
                    <a:lnR>
                      <a:noFill/>
                    </a:lnR>
                    <a:lnT>
                      <a:noFill/>
                    </a:lnT>
                    <a:lnB>
                      <a:noFill/>
                    </a:lnB>
                    <a:solidFill>
                      <a:srgbClr val="F0F2F5">
                        <a:alpha val="90000"/>
                      </a:srgbClr>
                    </a:solidFill>
                  </a:tcPr>
                </a:tc>
                <a:extLst>
                  <a:ext uri="{0D108BD9-81ED-4DB2-BD59-A6C34878D82A}">
                    <a16:rowId xmlns:a16="http://schemas.microsoft.com/office/drawing/2014/main" val="10002"/>
                  </a:ext>
                </a:extLst>
              </a:tr>
              <a:tr h="457200">
                <a:tc>
                  <a:txBody>
                    <a:bodyPr/>
                    <a:lstStyle/>
                    <a:p>
                      <a:pPr indent="0" algn="ctr">
                        <a:lnSpc>
                          <a:spcPct val="100000"/>
                        </a:lnSpc>
                        <a:defRPr/>
                      </a:pPr>
                      <a:r>
                        <a:rPr lang="en-US" sz="1100" b="0" i="0" u="none" strike="noStrike">
                          <a:solidFill>
                            <a:srgbClr val="1F2329"/>
                          </a:solidFill>
                          <a:latin typeface="Arial"/>
                          <a:ea typeface="Arial"/>
                          <a:cs typeface="Arial"/>
                          <a:sym typeface="Arial"/>
                        </a:rPr>
                        <a:t>Blackstone</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$300B</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Corporate Direct Lending</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Strong in middle-market loans</a:t>
                      </a:r>
                      <a:endParaRPr lang="en-US" sz="1100"/>
                    </a:p>
                  </a:txBody>
                  <a:tcPr marL="101600" marR="101600" marT="101600" marB="101600" anchor="ctr">
                    <a:lnL>
                      <a:noFill/>
                    </a:lnL>
                    <a:lnR>
                      <a:noFill/>
                    </a:lnR>
                    <a:lnT>
                      <a:noFill/>
                    </a:lnT>
                    <a:lnB>
                      <a:noFill/>
                    </a:lnB>
                    <a:solidFill>
                      <a:srgbClr val="FFFFFF">
                        <a:alpha val="90000"/>
                      </a:srgbClr>
                    </a:solidFill>
                  </a:tcPr>
                </a:tc>
                <a:extLst>
                  <a:ext uri="{0D108BD9-81ED-4DB2-BD59-A6C34878D82A}">
                    <a16:rowId xmlns:a16="http://schemas.microsoft.com/office/drawing/2014/main" val="10003"/>
                  </a:ext>
                </a:extLst>
              </a:tr>
              <a:tr h="457200">
                <a:tc>
                  <a:txBody>
                    <a:bodyPr/>
                    <a:lstStyle/>
                    <a:p>
                      <a:pPr indent="0" algn="ctr">
                        <a:lnSpc>
                          <a:spcPct val="100000"/>
                        </a:lnSpc>
                        <a:defRPr/>
                      </a:pPr>
                      <a:r>
                        <a:rPr lang="en-US" sz="1100" b="0" i="0" u="none" strike="noStrike">
                          <a:solidFill>
                            <a:srgbClr val="1F2329"/>
                          </a:solidFill>
                          <a:latin typeface="Arial"/>
                          <a:ea typeface="Arial"/>
                          <a:cs typeface="Arial"/>
                          <a:sym typeface="Arial"/>
                        </a:rPr>
                        <a:t>Oaktree</a:t>
                      </a:r>
                      <a:endParaRPr lang="en-US" sz="1100"/>
                    </a:p>
                  </a:txBody>
                  <a:tcPr marL="101600" marR="101600" marT="101600" marB="101600" anchor="ctr">
                    <a:lnL>
                      <a:noFill/>
                    </a:lnL>
                    <a:lnR>
                      <a:noFill/>
                    </a:lnR>
                    <a:lnT>
                      <a:noFill/>
                    </a:lnT>
                    <a:lnB>
                      <a:noFill/>
                    </a:lnB>
                    <a:solidFill>
                      <a:srgbClr val="F0F2F5">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$160B</a:t>
                      </a:r>
                      <a:endParaRPr lang="en-US" sz="1100"/>
                    </a:p>
                  </a:txBody>
                  <a:tcPr marL="101600" marR="101600" marT="101600" marB="101600" anchor="ctr">
                    <a:lnL>
                      <a:noFill/>
                    </a:lnL>
                    <a:lnR>
                      <a:noFill/>
                    </a:lnR>
                    <a:lnT>
                      <a:noFill/>
                    </a:lnT>
                    <a:lnB>
                      <a:noFill/>
                    </a:lnB>
                    <a:solidFill>
                      <a:srgbClr val="F0F2F5">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Distressed Debt</a:t>
                      </a:r>
                      <a:endParaRPr lang="en-US" sz="1100"/>
                    </a:p>
                  </a:txBody>
                  <a:tcPr marL="101600" marR="101600" marT="101600" marB="101600" anchor="ctr">
                    <a:lnL>
                      <a:noFill/>
                    </a:lnL>
                    <a:lnR>
                      <a:noFill/>
                    </a:lnR>
                    <a:lnT>
                      <a:noFill/>
                    </a:lnT>
                    <a:lnB>
                      <a:noFill/>
                    </a:lnB>
                    <a:solidFill>
                      <a:srgbClr val="F0F2F5">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Specialist in credit opportunities</a:t>
                      </a:r>
                      <a:endParaRPr lang="en-US" sz="1100"/>
                    </a:p>
                  </a:txBody>
                  <a:tcPr marL="101600" marR="101600" marT="101600" marB="101600" anchor="ctr">
                    <a:lnL>
                      <a:noFill/>
                    </a:lnL>
                    <a:lnR>
                      <a:noFill/>
                    </a:lnR>
                    <a:lnT>
                      <a:noFill/>
                    </a:lnT>
                    <a:lnB>
                      <a:noFill/>
                    </a:lnB>
                    <a:solidFill>
                      <a:srgbClr val="F0F2F5">
                        <a:alpha val="90000"/>
                      </a:srgbClr>
                    </a:solidFill>
                  </a:tcPr>
                </a:tc>
                <a:extLst>
                  <a:ext uri="{0D108BD9-81ED-4DB2-BD59-A6C34878D82A}">
                    <a16:rowId xmlns:a16="http://schemas.microsoft.com/office/drawing/2014/main" val="10004"/>
                  </a:ext>
                </a:extLst>
              </a:tr>
              <a:tr h="457200">
                <a:tc>
                  <a:txBody>
                    <a:bodyPr/>
                    <a:lstStyle/>
                    <a:p>
                      <a:pPr indent="0" algn="ctr">
                        <a:lnSpc>
                          <a:spcPct val="100000"/>
                        </a:lnSpc>
                        <a:defRPr/>
                      </a:pPr>
                      <a:r>
                        <a:rPr lang="en-US" sz="1100" b="0" i="0" u="none" strike="noStrike">
                          <a:solidFill>
                            <a:srgbClr val="1F2329"/>
                          </a:solidFill>
                          <a:latin typeface="Arial"/>
                          <a:ea typeface="Arial"/>
                          <a:cs typeface="Arial"/>
                          <a:sym typeface="Arial"/>
                        </a:rPr>
                        <a:t>AxTrade (Target)</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$100M</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HK Hotel Sector</a:t>
                      </a:r>
                      <a:endParaRPr lang="en-US" sz="1100"/>
                    </a:p>
                  </a:txBody>
                  <a:tcPr marL="101600" marR="101600" marT="101600" marB="101600" anchor="ctr">
                    <a:lnL>
                      <a:noFill/>
                    </a:lnL>
                    <a:lnR>
                      <a:noFill/>
                    </a:lnR>
                    <a:lnT>
                      <a:noFill/>
                    </a:lnT>
                    <a:lnB>
                      <a:noFill/>
                    </a:lnB>
                    <a:solidFill>
                      <a:srgbClr val="FFFFFF">
                        <a:alpha val="90000"/>
                      </a:srgbClr>
                    </a:solidFill>
                  </a:tcPr>
                </a:tc>
                <a:tc>
                  <a:txBody>
                    <a:bodyPr/>
                    <a:lstStyle/>
                    <a:p>
                      <a:pPr indent="0" algn="ctr">
                        <a:lnSpc>
                          <a:spcPct val="100000"/>
                        </a:lnSpc>
                        <a:defRPr/>
                      </a:pPr>
                      <a:r>
                        <a:rPr lang="en-US" sz="1100" b="0" i="0" u="none" strike="noStrike">
                          <a:solidFill>
                            <a:srgbClr val="1F2329"/>
                          </a:solidFill>
                          <a:latin typeface="Arial"/>
                          <a:ea typeface="Arial"/>
                          <a:cs typeface="Arial"/>
                          <a:sym typeface="Arial"/>
                        </a:rPr>
                        <a:t>Niche opportunity in refinancing</a:t>
                      </a:r>
                      <a:endParaRPr lang="en-US" sz="1100"/>
                    </a:p>
                  </a:txBody>
                  <a:tcPr marL="101600" marR="101600" marT="101600" marB="101600" anchor="ctr">
                    <a:lnL>
                      <a:noFill/>
                    </a:lnL>
                    <a:lnR>
                      <a:noFill/>
                    </a:lnR>
                    <a:lnT>
                      <a:noFill/>
                    </a:lnT>
                    <a:lnB>
                      <a:noFill/>
                    </a:lnB>
                    <a:solidFill>
                      <a:srgbClr val="FFFFFF">
                        <a:alpha val="90000"/>
                      </a:srgbClr>
                    </a:solidFill>
                  </a:tcPr>
                </a:tc>
                <a:extLst>
                  <a:ext uri="{0D108BD9-81ED-4DB2-BD59-A6C34878D82A}">
                    <a16:rowId xmlns:a16="http://schemas.microsoft.com/office/drawing/2014/main" val="10005"/>
                  </a:ext>
                </a:extLst>
              </a:tr>
            </a:tbl>
          </a:graphicData>
        </a:graphic>
      </p:graphicFrame>
      <p:sp>
        <p:nvSpPr>
          <p:cNvPr id="12" name="AutoShape 12"/>
          <p:cNvSpPr/>
          <p:nvPr/>
        </p:nvSpPr>
        <p:spPr>
          <a:xfrm>
            <a:off x="8001000" y="1143000"/>
            <a:ext cx="3810000" cy="4953000"/>
          </a:xfrm>
          <a:prstGeom prst="roundRect">
            <a:avLst>
              <a:gd name="adj" fmla="val 3333"/>
            </a:avLst>
          </a:prstGeom>
          <a:solidFill>
            <a:srgbClr val="FFD700">
              <a:alpha val="100000"/>
            </a:srgbClr>
          </a:solidFill>
          <a:ln w="25400" cap="flat" cmpd="sng">
            <a:noFill/>
            <a:prstDash val="solid"/>
            <a:round/>
          </a:ln>
          <a:effectLst>
            <a:outerShdw blurRad="101600" dist="508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5000" y="1397000"/>
            <a:ext cx="406400" cy="406400"/>
          </a:xfrm>
          <a:prstGeom prst="rect">
            <a:avLst/>
          </a:prstGeom>
        </p:spPr>
      </p:pic>
      <p:sp>
        <p:nvSpPr>
          <p:cNvPr id="14" name="AutoShape 14"/>
          <p:cNvSpPr/>
          <p:nvPr/>
        </p:nvSpPr>
        <p:spPr>
          <a:xfrm>
            <a:off x="8763000" y="1397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Key Insight</a:t>
            </a:r>
            <a:endParaRPr lang="en-US" sz="1100"/>
          </a:p>
        </p:txBody>
      </p:sp>
      <p:cxnSp>
        <p:nvCxnSpPr>
          <p:cNvPr id="15" name="Connector 15"/>
          <p:cNvCxnSpPr/>
          <p:nvPr/>
        </p:nvCxnSpPr>
        <p:spPr>
          <a:xfrm rot="-13222">
            <a:off x="8255012" y="1898650"/>
            <a:ext cx="33020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55000" y="2159000"/>
            <a:ext cx="609600" cy="609600"/>
          </a:xfrm>
          <a:prstGeom prst="rect">
            <a:avLst/>
          </a:prstGeom>
        </p:spPr>
      </p:pic>
      <p:sp>
        <p:nvSpPr>
          <p:cNvPr id="17" name="AutoShape 17"/>
          <p:cNvSpPr/>
          <p:nvPr/>
        </p:nvSpPr>
        <p:spPr>
          <a:xfrm>
            <a:off x="8255000" y="2921000"/>
            <a:ext cx="3302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Arial"/>
                <a:ea typeface="Arial"/>
                <a:cs typeface="Arial"/>
                <a:sym typeface="Arial"/>
              </a:rPr>
              <a:t>Opportunities in HK Hotel Sector</a:t>
            </a:r>
            <a:endParaRPr lang="en-US" sz="1100"/>
          </a:p>
          <a:p>
            <a:pPr indent="0" algn="l">
              <a:lnSpc>
                <a:spcPct val="125000"/>
              </a:lnSpc>
            </a:pPr>
            <a:br>
              <a:rPr lang="en-US" sz="1600" b="0" i="0" u="none" strike="noStrike">
                <a:solidFill>
                  <a:srgbClr val="1F2329"/>
                </a:solidFill>
                <a:latin typeface="Arial"/>
                <a:ea typeface="Arial"/>
                <a:cs typeface="Arial"/>
                <a:sym typeface="Arial"/>
              </a:rPr>
            </a:br>
            <a:endParaRPr lang="en-US" sz="1600" b="0" i="0" u="none" strike="noStrike">
              <a:solidFill>
                <a:srgbClr val="1F2329"/>
              </a:solidFill>
              <a:latin typeface="Arial"/>
              <a:ea typeface="Arial"/>
              <a:cs typeface="Arial"/>
              <a:sym typeface="Arial"/>
            </a:endParaRPr>
          </a:p>
          <a:p>
            <a:pPr indent="0" algn="l">
              <a:lnSpc>
                <a:spcPct val="125000"/>
              </a:lnSpc>
            </a:pPr>
            <a:r>
              <a:rPr lang="en-US" sz="1400" b="0" i="0" u="none" strike="noStrike">
                <a:solidFill>
                  <a:srgbClr val="323232"/>
                </a:solidFill>
                <a:latin typeface="Arial"/>
                <a:ea typeface="Arial"/>
                <a:cs typeface="Arial"/>
                <a:sym typeface="Arial"/>
              </a:rPr>
              <a:t>The post-pandemic recovery in Hong Kong's tourism sector has created a unique window for refinancing distressed hotel assets. Yields are attractive, and there is a lack of traditional bank financing in this niche, making it an ideal target for private credit.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Week 4: Mock Deal Proposal</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1397000"/>
            <a:ext cx="304800" cy="304800"/>
          </a:xfrm>
          <a:prstGeom prst="rect">
            <a:avLst/>
          </a:prstGeom>
        </p:spPr>
      </p:pic>
      <p:sp>
        <p:nvSpPr>
          <p:cNvPr id="6" name="AutoShape 6"/>
          <p:cNvSpPr/>
          <p:nvPr/>
        </p:nvSpPr>
        <p:spPr>
          <a:xfrm>
            <a:off x="889000" y="1371600"/>
            <a:ext cx="711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a:ea typeface="Arial"/>
                <a:cs typeface="Arial"/>
                <a:sym typeface="Arial"/>
              </a:rPr>
              <a:t>Scenario:</a:t>
            </a:r>
            <a:r>
              <a:rPr lang="en-US" sz="1600" b="0" i="0" u="none" strike="noStrike">
                <a:solidFill>
                  <a:srgbClr val="555555"/>
                </a:solidFill>
                <a:latin typeface="Arial"/>
                <a:ea typeface="Arial"/>
                <a:cs typeface="Arial"/>
                <a:sym typeface="Arial"/>
              </a:rPr>
              <a:t>$50M hotel refinancing project</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 y="1841500"/>
            <a:ext cx="304800" cy="304800"/>
          </a:xfrm>
          <a:prstGeom prst="rect">
            <a:avLst/>
          </a:prstGeom>
        </p:spPr>
      </p:pic>
      <p:sp>
        <p:nvSpPr>
          <p:cNvPr id="8" name="AutoShape 8"/>
          <p:cNvSpPr/>
          <p:nvPr/>
        </p:nvSpPr>
        <p:spPr>
          <a:xfrm>
            <a:off x="889000" y="1816100"/>
            <a:ext cx="711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a:ea typeface="Arial"/>
                <a:cs typeface="Arial"/>
                <a:sym typeface="Arial"/>
              </a:rPr>
              <a:t>Structure:</a:t>
            </a:r>
            <a:r>
              <a:rPr lang="en-US" sz="1600" b="0" i="0" u="none" strike="noStrike">
                <a:solidFill>
                  <a:srgbClr val="555555"/>
                </a:solidFill>
                <a:latin typeface="Arial"/>
                <a:ea typeface="Arial"/>
                <a:cs typeface="Arial"/>
                <a:sym typeface="Arial"/>
              </a:rPr>
              <a:t>Mezzanine financing with 12% yield (5-year term)</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000" y="2286000"/>
            <a:ext cx="304800" cy="304800"/>
          </a:xfrm>
          <a:prstGeom prst="rect">
            <a:avLst/>
          </a:prstGeom>
        </p:spPr>
      </p:pic>
      <p:sp>
        <p:nvSpPr>
          <p:cNvPr id="10" name="AutoShape 10"/>
          <p:cNvSpPr/>
          <p:nvPr/>
        </p:nvSpPr>
        <p:spPr>
          <a:xfrm>
            <a:off x="889000" y="2260600"/>
            <a:ext cx="711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a:ea typeface="Arial"/>
                <a:cs typeface="Arial"/>
                <a:sym typeface="Arial"/>
              </a:rPr>
              <a:t>Term Sheet:</a:t>
            </a:r>
            <a:r>
              <a:rPr lang="en-US" sz="1600" b="0" i="0" u="none" strike="noStrike">
                <a:solidFill>
                  <a:srgbClr val="555555"/>
                </a:solidFill>
                <a:latin typeface="Arial"/>
                <a:ea typeface="Arial"/>
                <a:cs typeface="Arial"/>
                <a:sym typeface="Arial"/>
              </a:rPr>
              <a:t>Detailed rates, fees, and comprehensive risk mitigation</a:t>
            </a:r>
            <a:endParaRPr lang="en-US" sz="1100"/>
          </a:p>
        </p:txBody>
      </p:sp>
      <p:graphicFrame>
        <p:nvGraphicFramePr>
          <p:cNvPr id="11" name="Table 11"/>
          <p:cNvGraphicFramePr>
            <a:graphicFrameLocks noGrp="1"/>
          </p:cNvGraphicFramePr>
          <p:nvPr/>
        </p:nvGraphicFramePr>
        <p:xfrm>
          <a:off x="508000" y="2794000"/>
          <a:ext cx="7366000" cy="29210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400" b="1" i="0" u="none" strike="noStrike">
                          <a:solidFill>
                            <a:srgbClr val="FFFFFF"/>
                          </a:solidFill>
                          <a:latin typeface="Arial"/>
                          <a:ea typeface="Arial"/>
                          <a:cs typeface="Arial"/>
                          <a:sym typeface="Arial"/>
                        </a:rPr>
                        <a:t>Term</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Arial"/>
                          <a:ea typeface="Arial"/>
                          <a:cs typeface="Arial"/>
                          <a:sym typeface="Arial"/>
                        </a:rPr>
                        <a:t>Details</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Arial"/>
                          <a:ea typeface="Arial"/>
                          <a:cs typeface="Arial"/>
                          <a:sym typeface="Arial"/>
                        </a:rPr>
                        <a:t>Mitigation</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482600">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Principal</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$50,000,000</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Secured by hotel property</a:t>
                      </a:r>
                      <a:endParaRPr lang="en-US" sz="1100"/>
                    </a:p>
                  </a:txBody>
                  <a:tcPr marL="101600" marR="101600" marT="101600" marB="101600" anchor="ctr">
                    <a:lnL>
                      <a:noFill/>
                    </a:lnL>
                    <a:lnR>
                      <a:noFill/>
                    </a:lnR>
                    <a:lnT>
                      <a:noFill/>
                    </a:lnT>
                    <a:lnB>
                      <a:noFill/>
                    </a:lnB>
                    <a:solidFill>
                      <a:srgbClr val="FFFFFF">
                        <a:alpha val="80000"/>
                      </a:srgbClr>
                    </a:solidFill>
                  </a:tcPr>
                </a:tc>
                <a:extLst>
                  <a:ext uri="{0D108BD9-81ED-4DB2-BD59-A6C34878D82A}">
                    <a16:rowId xmlns:a16="http://schemas.microsoft.com/office/drawing/2014/main" val="10001"/>
                  </a:ext>
                </a:extLst>
              </a:tr>
              <a:tr h="482600">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Interest Rate</a:t>
                      </a:r>
                      <a:endParaRPr lang="en-US" sz="1100"/>
                    </a:p>
                  </a:txBody>
                  <a:tcPr marL="101600" marR="101600" marT="101600" marB="101600" anchor="ctr">
                    <a:lnL>
                      <a:noFill/>
                    </a:lnL>
                    <a:lnR>
                      <a:noFill/>
                    </a:lnR>
                    <a:lnT>
                      <a:noFill/>
                    </a:lnT>
                    <a:lnB>
                      <a:noFill/>
                    </a:lnB>
                    <a:solidFill>
                      <a:srgbClr val="F0F4F8">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12% (fixed)</a:t>
                      </a:r>
                      <a:endParaRPr lang="en-US" sz="1100"/>
                    </a:p>
                  </a:txBody>
                  <a:tcPr marL="101600" marR="101600" marT="101600" marB="101600" anchor="ctr">
                    <a:lnL>
                      <a:noFill/>
                    </a:lnL>
                    <a:lnR>
                      <a:noFill/>
                    </a:lnR>
                    <a:lnT>
                      <a:noFill/>
                    </a:lnT>
                    <a:lnB>
                      <a:noFill/>
                    </a:lnB>
                    <a:solidFill>
                      <a:srgbClr val="F0F4F8">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Interest coverage ratio covenant</a:t>
                      </a:r>
                      <a:endParaRPr lang="en-US" sz="1100"/>
                    </a:p>
                  </a:txBody>
                  <a:tcPr marL="101600" marR="101600" marT="101600" marB="101600" anchor="ctr">
                    <a:lnL>
                      <a:noFill/>
                    </a:lnL>
                    <a:lnR>
                      <a:noFill/>
                    </a:lnR>
                    <a:lnT>
                      <a:noFill/>
                    </a:lnT>
                    <a:lnB>
                      <a:noFill/>
                    </a:lnB>
                    <a:solidFill>
                      <a:srgbClr val="F0F4F8">
                        <a:alpha val="80000"/>
                      </a:srgbClr>
                    </a:solidFill>
                  </a:tcPr>
                </a:tc>
                <a:extLst>
                  <a:ext uri="{0D108BD9-81ED-4DB2-BD59-A6C34878D82A}">
                    <a16:rowId xmlns:a16="http://schemas.microsoft.com/office/drawing/2014/main" val="10002"/>
                  </a:ext>
                </a:extLst>
              </a:tr>
              <a:tr h="482600">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Tenor</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5 years</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Amortization schedule to reduce risk</a:t>
                      </a:r>
                      <a:endParaRPr lang="en-US" sz="1100"/>
                    </a:p>
                  </a:txBody>
                  <a:tcPr marL="101600" marR="101600" marT="101600" marB="101600" anchor="ctr">
                    <a:lnL>
                      <a:noFill/>
                    </a:lnL>
                    <a:lnR>
                      <a:noFill/>
                    </a:lnR>
                    <a:lnT>
                      <a:noFill/>
                    </a:lnT>
                    <a:lnB>
                      <a:noFill/>
                    </a:lnB>
                    <a:solidFill>
                      <a:srgbClr val="FFFFFF">
                        <a:alpha val="80000"/>
                      </a:srgbClr>
                    </a:solidFill>
                  </a:tcPr>
                </a:tc>
                <a:extLst>
                  <a:ext uri="{0D108BD9-81ED-4DB2-BD59-A6C34878D82A}">
                    <a16:rowId xmlns:a16="http://schemas.microsoft.com/office/drawing/2014/main" val="10003"/>
                  </a:ext>
                </a:extLst>
              </a:tr>
              <a:tr h="482600">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Fees</a:t>
                      </a:r>
                      <a:endParaRPr lang="en-US" sz="1100"/>
                    </a:p>
                  </a:txBody>
                  <a:tcPr marL="101600" marR="101600" marT="101600" marB="101600" anchor="ctr">
                    <a:lnL>
                      <a:noFill/>
                    </a:lnL>
                    <a:lnR>
                      <a:noFill/>
                    </a:lnR>
                    <a:lnT>
                      <a:noFill/>
                    </a:lnT>
                    <a:lnB>
                      <a:noFill/>
                    </a:lnB>
                    <a:solidFill>
                      <a:srgbClr val="F0F4F8">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2% arrangement fee</a:t>
                      </a:r>
                      <a:endParaRPr lang="en-US" sz="1100"/>
                    </a:p>
                  </a:txBody>
                  <a:tcPr marL="101600" marR="101600" marT="101600" marB="101600" anchor="ctr">
                    <a:lnL>
                      <a:noFill/>
                    </a:lnL>
                    <a:lnR>
                      <a:noFill/>
                    </a:lnR>
                    <a:lnT>
                      <a:noFill/>
                    </a:lnT>
                    <a:lnB>
                      <a:noFill/>
                    </a:lnB>
                    <a:solidFill>
                      <a:srgbClr val="F0F4F8">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Paid upfront to cover costs</a:t>
                      </a:r>
                      <a:endParaRPr lang="en-US" sz="1100"/>
                    </a:p>
                  </a:txBody>
                  <a:tcPr marL="101600" marR="101600" marT="101600" marB="101600" anchor="ctr">
                    <a:lnL>
                      <a:noFill/>
                    </a:lnL>
                    <a:lnR>
                      <a:noFill/>
                    </a:lnR>
                    <a:lnT>
                      <a:noFill/>
                    </a:lnT>
                    <a:lnB>
                      <a:noFill/>
                    </a:lnB>
                    <a:solidFill>
                      <a:srgbClr val="F0F4F8">
                        <a:alpha val="80000"/>
                      </a:srgbClr>
                    </a:solidFill>
                  </a:tcPr>
                </a:tc>
                <a:extLst>
                  <a:ext uri="{0D108BD9-81ED-4DB2-BD59-A6C34878D82A}">
                    <a16:rowId xmlns:a16="http://schemas.microsoft.com/office/drawing/2014/main" val="10004"/>
                  </a:ext>
                </a:extLst>
              </a:tr>
              <a:tr h="482600">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Exit Strategy</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Refinance or Sell</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marL="63500" indent="0" algn="l">
                        <a:lnSpc>
                          <a:spcPct val="100000"/>
                        </a:lnSpc>
                        <a:defRPr/>
                      </a:pPr>
                      <a:r>
                        <a:rPr lang="en-US" sz="1300" b="0" i="0" u="none" strike="noStrike">
                          <a:solidFill>
                            <a:srgbClr val="333333"/>
                          </a:solidFill>
                          <a:latin typeface="Arial"/>
                          <a:ea typeface="Arial"/>
                          <a:cs typeface="Arial"/>
                          <a:sym typeface="Arial"/>
                        </a:rPr>
                        <a:t>Regular valuation and monitoring</a:t>
                      </a:r>
                      <a:endParaRPr lang="en-US" sz="1100"/>
                    </a:p>
                  </a:txBody>
                  <a:tcPr marL="101600" marR="101600" marT="101600" marB="101600" anchor="ctr">
                    <a:lnL>
                      <a:noFill/>
                    </a:lnL>
                    <a:lnR>
                      <a:noFill/>
                    </a:lnR>
                    <a:lnT>
                      <a:noFill/>
                    </a:lnT>
                    <a:lnB>
                      <a:noFill/>
                    </a:lnB>
                    <a:solidFill>
                      <a:srgbClr val="FFFFFF">
                        <a:alpha val="80000"/>
                      </a:srgbClr>
                    </a:solidFill>
                  </a:tcPr>
                </a:tc>
                <a:extLst>
                  <a:ext uri="{0D108BD9-81ED-4DB2-BD59-A6C34878D82A}">
                    <a16:rowId xmlns:a16="http://schemas.microsoft.com/office/drawing/2014/main" val="10005"/>
                  </a:ext>
                </a:extLst>
              </a:tr>
            </a:tbl>
          </a:graphicData>
        </a:graphic>
      </p:graphicFrame>
      <p:sp>
        <p:nvSpPr>
          <p:cNvPr id="12" name="AutoShape 12"/>
          <p:cNvSpPr/>
          <p:nvPr/>
        </p:nvSpPr>
        <p:spPr>
          <a:xfrm>
            <a:off x="8191500" y="1397000"/>
            <a:ext cx="3556000" cy="4318000"/>
          </a:xfrm>
          <a:prstGeom prst="roundRect">
            <a:avLst>
              <a:gd name="adj" fmla="val 3571"/>
            </a:avLst>
          </a:prstGeom>
          <a:solidFill>
            <a:srgbClr val="FFD700">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82000" y="1651000"/>
            <a:ext cx="406400" cy="406400"/>
          </a:xfrm>
          <a:prstGeom prst="rect">
            <a:avLst/>
          </a:prstGeom>
        </p:spPr>
      </p:pic>
      <p:sp>
        <p:nvSpPr>
          <p:cNvPr id="14" name="AutoShape 14"/>
          <p:cNvSpPr/>
          <p:nvPr/>
        </p:nvSpPr>
        <p:spPr>
          <a:xfrm>
            <a:off x="8890000" y="1651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Insight</a:t>
            </a:r>
            <a:endParaRPr lang="en-US" sz="1100"/>
          </a:p>
        </p:txBody>
      </p:sp>
      <p:cxnSp>
        <p:nvCxnSpPr>
          <p:cNvPr id="15" name="Connector 15"/>
          <p:cNvCxnSpPr/>
          <p:nvPr/>
        </p:nvCxnSpPr>
        <p:spPr>
          <a:xfrm rot="-14323">
            <a:off x="8382013" y="2152650"/>
            <a:ext cx="3048000" cy="12700"/>
          </a:xfrm>
          <a:prstGeom prst="straightConnector1">
            <a:avLst/>
          </a:prstGeom>
          <a:solidFill>
            <a:srgbClr val="DEE0E3">
              <a:alpha val="100000"/>
            </a:srgbClr>
          </a:solidFill>
          <a:ln w="12700" cap="flat" cmpd="sng">
            <a:solidFill>
              <a:srgbClr val="003366">
                <a:alpha val="100000"/>
              </a:srgbClr>
            </a:solidFill>
            <a:prstDash val="solid"/>
            <a:round/>
            <a:headEnd type="none" w="med" len="med"/>
            <a:tailEnd type="none" w="med" len="med"/>
          </a:ln>
        </p:spPr>
      </p:cxnSp>
      <p:sp>
        <p:nvSpPr>
          <p:cNvPr id="16" name="AutoShape 16"/>
          <p:cNvSpPr/>
          <p:nvPr/>
        </p:nvSpPr>
        <p:spPr>
          <a:xfrm>
            <a:off x="8445500" y="2590800"/>
            <a:ext cx="3048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03366"/>
                </a:solidFill>
                <a:latin typeface="Arial"/>
                <a:ea typeface="Arial"/>
                <a:cs typeface="Arial"/>
                <a:sym typeface="Arial"/>
              </a:rPr>
              <a:t>Brokerage Opportunity</a:t>
            </a:r>
            <a:endParaRPr lang="en-US" sz="1100" dirty="0"/>
          </a:p>
          <a:p>
            <a:pPr indent="0" algn="l">
              <a:lnSpc>
                <a:spcPct val="125000"/>
              </a:lnSpc>
            </a:pPr>
            <a:endParaRPr lang="en-GB" sz="1600" dirty="0">
              <a:solidFill>
                <a:srgbClr val="1F2329"/>
              </a:solidFill>
            </a:endParaRPr>
          </a:p>
          <a:p>
            <a:pPr indent="0" algn="l">
              <a:lnSpc>
                <a:spcPct val="125000"/>
              </a:lnSpc>
            </a:pPr>
            <a:r>
              <a:rPr lang="en-US" sz="1400" b="0" i="0" u="none" strike="noStrike" dirty="0">
                <a:solidFill>
                  <a:srgbClr val="333333"/>
                </a:solidFill>
                <a:latin typeface="Arial"/>
                <a:ea typeface="Arial"/>
                <a:cs typeface="Arial"/>
                <a:sym typeface="Arial"/>
              </a:rPr>
              <a:t>Brokering this $50M deal yields approximately</a:t>
            </a:r>
            <a:r>
              <a:rPr lang="en-GB" sz="1400" b="0" i="0" u="none" strike="noStrike" dirty="0">
                <a:solidFill>
                  <a:srgbClr val="333333"/>
                </a:solidFill>
                <a:latin typeface="Arial"/>
                <a:ea typeface="Arial"/>
                <a:cs typeface="Arial"/>
                <a:sym typeface="Arial"/>
              </a:rPr>
              <a:t> </a:t>
            </a:r>
            <a:r>
              <a:rPr lang="en-US" sz="1800" b="1" i="0" u="none" strike="noStrike" dirty="0">
                <a:solidFill>
                  <a:srgbClr val="B40000"/>
                </a:solidFill>
                <a:latin typeface="Arial"/>
                <a:ea typeface="Arial"/>
                <a:cs typeface="Arial"/>
                <a:sym typeface="Arial"/>
              </a:rPr>
              <a:t>2% fees</a:t>
            </a:r>
            <a:r>
              <a:rPr lang="en-US" sz="1400" b="0" i="0" u="none" strike="noStrike" dirty="0">
                <a:solidFill>
                  <a:srgbClr val="333333"/>
                </a:solidFill>
                <a:latin typeface="Arial"/>
                <a:ea typeface="Arial"/>
                <a:cs typeface="Arial"/>
                <a:sym typeface="Arial"/>
              </a:rPr>
              <a:t>.</a:t>
            </a:r>
          </a:p>
          <a:p>
            <a:pPr indent="0" algn="l">
              <a:lnSpc>
                <a:spcPct val="125000"/>
              </a:lnSpc>
            </a:pPr>
            <a:br>
              <a:rPr lang="en-US" sz="1600" b="0" i="0" u="none" strike="noStrike" dirty="0">
                <a:solidFill>
                  <a:srgbClr val="1F2329"/>
                </a:solidFill>
                <a:latin typeface="Arial"/>
                <a:ea typeface="Arial"/>
                <a:cs typeface="Arial"/>
                <a:sym typeface="Arial"/>
              </a:rPr>
            </a:br>
            <a:endParaRPr lang="en-US" sz="1600" b="0" i="0" u="none" strike="noStrike" dirty="0">
              <a:solidFill>
                <a:srgbClr val="1F2329"/>
              </a:solidFill>
              <a:latin typeface="Arial"/>
              <a:ea typeface="Arial"/>
              <a:cs typeface="Arial"/>
              <a:sym typeface="Arial"/>
            </a:endParaRPr>
          </a:p>
          <a:p>
            <a:pPr indent="0" algn="l">
              <a:lnSpc>
                <a:spcPct val="125000"/>
              </a:lnSpc>
            </a:pPr>
            <a:r>
              <a:rPr lang="en-US" sz="1400" b="0" i="0" u="none" strike="noStrike" dirty="0">
                <a:solidFill>
                  <a:srgbClr val="333333"/>
                </a:solidFill>
                <a:latin typeface="Arial"/>
                <a:ea typeface="Arial"/>
                <a:cs typeface="Arial"/>
                <a:sym typeface="Arial"/>
              </a:rPr>
              <a:t>This translates to a substantial upfront revenue stream for successful intermediation in the hospitality finance sector.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2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Week 4: Relationship Building</a:t>
            </a:r>
            <a:endParaRPr lang="en-US" sz="1100"/>
          </a:p>
        </p:txBody>
      </p:sp>
      <p:sp>
        <p:nvSpPr>
          <p:cNvPr id="5" name="AutoShape 5"/>
          <p:cNvSpPr/>
          <p:nvPr/>
        </p:nvSpPr>
        <p:spPr>
          <a:xfrm>
            <a:off x="381000" y="1270000"/>
            <a:ext cx="7874000" cy="5334000"/>
          </a:xfrm>
          <a:prstGeom prst="roundRect">
            <a:avLst>
              <a:gd name="adj" fmla="val 2380"/>
            </a:avLst>
          </a:prstGeom>
          <a:solidFill>
            <a:srgbClr val="FFFFFF">
              <a:alpha val="95000"/>
            </a:srgbClr>
          </a:solidFill>
          <a:ln w="25400" cap="flat" cmpd="sng">
            <a:noFill/>
            <a:prstDash val="solid"/>
            <a:round/>
          </a:ln>
          <a:effectLst>
            <a:outerShdw blurRad="1016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 y="1524000"/>
            <a:ext cx="304800" cy="304800"/>
          </a:xfrm>
          <a:prstGeom prst="rect">
            <a:avLst/>
          </a:prstGeom>
        </p:spPr>
      </p:pic>
      <p:sp>
        <p:nvSpPr>
          <p:cNvPr id="7" name="AutoShape 7"/>
          <p:cNvSpPr/>
          <p:nvPr/>
        </p:nvSpPr>
        <p:spPr>
          <a:xfrm>
            <a:off x="1016000" y="1498600"/>
            <a:ext cx="698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Key Strategy &amp; Objectives</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1968500"/>
            <a:ext cx="254000" cy="254000"/>
          </a:xfrm>
          <a:prstGeom prst="rect">
            <a:avLst/>
          </a:prstGeom>
        </p:spPr>
      </p:pic>
      <p:sp>
        <p:nvSpPr>
          <p:cNvPr id="9" name="AutoShape 9"/>
          <p:cNvSpPr/>
          <p:nvPr/>
        </p:nvSpPr>
        <p:spPr>
          <a:xfrm>
            <a:off x="1016000" y="1943100"/>
            <a:ext cx="698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Arial"/>
                <a:ea typeface="Arial"/>
                <a:cs typeface="Arial"/>
                <a:sym typeface="Arial"/>
              </a:rPr>
              <a:t>Strategy:</a:t>
            </a:r>
            <a:r>
              <a:rPr lang="en-US" sz="1400" b="0" i="0" u="none" strike="noStrike">
                <a:solidFill>
                  <a:srgbClr val="555555"/>
                </a:solidFill>
                <a:latin typeface="Arial"/>
                <a:ea typeface="Arial"/>
                <a:cs typeface="Arial"/>
                <a:sym typeface="Arial"/>
              </a:rPr>
              <a:t>Targeting Events &amp; LinkedIn, delivering value via industry reports.</a:t>
            </a:r>
            <a:endParaRPr lang="en-US" sz="110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 y="2349500"/>
            <a:ext cx="254000" cy="254000"/>
          </a:xfrm>
          <a:prstGeom prst="rect">
            <a:avLst/>
          </a:prstGeom>
        </p:spPr>
      </p:pic>
      <p:sp>
        <p:nvSpPr>
          <p:cNvPr id="11" name="AutoShape 11"/>
          <p:cNvSpPr/>
          <p:nvPr/>
        </p:nvSpPr>
        <p:spPr>
          <a:xfrm>
            <a:off x="1016000" y="2324100"/>
            <a:ext cx="698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Arial"/>
                <a:ea typeface="Arial"/>
                <a:cs typeface="Arial"/>
                <a:sym typeface="Arial"/>
              </a:rPr>
              <a:t>Contacts:</a:t>
            </a:r>
            <a:r>
              <a:rPr lang="en-US" sz="1400" b="0" i="0" u="none" strike="noStrike">
                <a:solidFill>
                  <a:srgbClr val="555555"/>
                </a:solidFill>
                <a:latin typeface="Arial"/>
                <a:ea typeface="Arial"/>
                <a:cs typeface="Arial"/>
                <a:sym typeface="Arial"/>
              </a:rPr>
              <a:t>7 key connections established (e.g., Andrew Tan).</a:t>
            </a:r>
            <a:endParaRPr lang="en-US" sz="1100"/>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 y="2730500"/>
            <a:ext cx="254000" cy="254000"/>
          </a:xfrm>
          <a:prstGeom prst="rect">
            <a:avLst/>
          </a:prstGeom>
        </p:spPr>
      </p:pic>
      <p:sp>
        <p:nvSpPr>
          <p:cNvPr id="13" name="AutoShape 13"/>
          <p:cNvSpPr/>
          <p:nvPr/>
        </p:nvSpPr>
        <p:spPr>
          <a:xfrm>
            <a:off x="1016000" y="2705100"/>
            <a:ext cx="698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Arial"/>
                <a:ea typeface="Arial"/>
                <a:cs typeface="Arial"/>
                <a:sym typeface="Arial"/>
              </a:rPr>
              <a:t>Goal:</a:t>
            </a:r>
            <a:r>
              <a:rPr lang="en-US" sz="1400" b="0" i="0" u="none" strike="noStrike">
                <a:solidFill>
                  <a:srgbClr val="555555"/>
                </a:solidFill>
                <a:latin typeface="Arial"/>
                <a:ea typeface="Arial"/>
                <a:cs typeface="Arial"/>
                <a:sym typeface="Arial"/>
              </a:rPr>
              <a:t>Achieve 20% deal conversion rate from these networks.</a:t>
            </a:r>
            <a:endParaRPr lang="en-US" sz="1100"/>
          </a:p>
        </p:txBody>
      </p:sp>
      <p:cxnSp>
        <p:nvCxnSpPr>
          <p:cNvPr id="14" name="Connector 14"/>
          <p:cNvCxnSpPr/>
          <p:nvPr/>
        </p:nvCxnSpPr>
        <p:spPr>
          <a:xfrm rot="-5927">
            <a:off x="635005" y="3105150"/>
            <a:ext cx="7366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 y="3238500"/>
            <a:ext cx="304800" cy="304800"/>
          </a:xfrm>
          <a:prstGeom prst="rect">
            <a:avLst/>
          </a:prstGeom>
        </p:spPr>
      </p:pic>
      <p:sp>
        <p:nvSpPr>
          <p:cNvPr id="16" name="AutoShape 16"/>
          <p:cNvSpPr/>
          <p:nvPr/>
        </p:nvSpPr>
        <p:spPr>
          <a:xfrm>
            <a:off x="1016000" y="3213100"/>
            <a:ext cx="698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Key Contact Pipeline</a:t>
            </a:r>
            <a:endParaRPr lang="en-US" sz="1100"/>
          </a:p>
        </p:txBody>
      </p:sp>
      <p:graphicFrame>
        <p:nvGraphicFramePr>
          <p:cNvPr id="17" name="Table 17"/>
          <p:cNvGraphicFramePr>
            <a:graphicFrameLocks noGrp="1"/>
          </p:cNvGraphicFramePr>
          <p:nvPr/>
        </p:nvGraphicFramePr>
        <p:xfrm>
          <a:off x="635000" y="3683000"/>
          <a:ext cx="6985000" cy="231648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2921000">
                  <a:extLst>
                    <a:ext uri="{9D8B030D-6E8A-4147-A177-3AD203B41FA5}">
                      <a16:colId xmlns:a16="http://schemas.microsoft.com/office/drawing/2014/main" val="20003"/>
                    </a:ext>
                  </a:extLst>
                </a:gridCol>
              </a:tblGrid>
              <a:tr h="3810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Name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Role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Relevance</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Approach</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381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Andrew Tan</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Hotel Owner</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Direct Client</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l">
                        <a:lnSpc>
                          <a:spcPct val="100000"/>
                        </a:lnSpc>
                        <a:defRPr/>
                      </a:pPr>
                      <a:r>
                        <a:rPr lang="en-US" sz="1200" b="0" i="0" u="none" strike="noStrike">
                          <a:solidFill>
                            <a:srgbClr val="1F2329"/>
                          </a:solidFill>
                          <a:latin typeface="Noto Sans SC"/>
                          <a:ea typeface="Noto Sans SC"/>
                          <a:cs typeface="Noto Sans SC"/>
                          <a:sym typeface="Noto Sans SC"/>
                        </a:rPr>
                        <a:t>Personalized refinancing proposal</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1"/>
                  </a:ext>
                </a:extLst>
              </a:tr>
              <a:tr h="381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Sarah Lee</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Private Banker</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Referral Source</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200" b="0" i="0" u="none" strike="noStrike">
                          <a:solidFill>
                            <a:srgbClr val="1F2329"/>
                          </a:solidFill>
                          <a:latin typeface="Noto Sans SC"/>
                          <a:ea typeface="Noto Sans SC"/>
                          <a:cs typeface="Noto Sans SC"/>
                          <a:sym typeface="Noto Sans SC"/>
                        </a:rPr>
                        <a:t>Co-host a market insights webinar</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381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Michael Wong</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Lawyer</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Service Provider</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l">
                        <a:lnSpc>
                          <a:spcPct val="100000"/>
                        </a:lnSpc>
                        <a:defRPr/>
                      </a:pPr>
                      <a:r>
                        <a:rPr lang="en-US" sz="1200" b="0" i="0" u="none" strike="noStrike">
                          <a:solidFill>
                            <a:srgbClr val="1F2329"/>
                          </a:solidFill>
                          <a:latin typeface="Noto Sans SC"/>
                          <a:ea typeface="Noto Sans SC"/>
                          <a:cs typeface="Noto Sans SC"/>
                          <a:sym typeface="Noto Sans SC"/>
                        </a:rPr>
                        <a:t>Legal structure discussion</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3"/>
                  </a:ext>
                </a:extLst>
              </a:tr>
              <a:tr h="381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David Chen</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Asset Manager</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Co-investor</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200" b="0" i="0" u="none" strike="noStrike">
                          <a:solidFill>
                            <a:srgbClr val="1F2329"/>
                          </a:solidFill>
                          <a:latin typeface="Noto Sans SC"/>
                          <a:ea typeface="Noto Sans SC"/>
                          <a:cs typeface="Noto Sans SC"/>
                          <a:sym typeface="Noto Sans SC"/>
                        </a:rPr>
                        <a:t>Joint deal sourcing</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r h="3810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Jessica Liu</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Journalist</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PR</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l">
                        <a:lnSpc>
                          <a:spcPct val="100000"/>
                        </a:lnSpc>
                        <a:defRPr/>
                      </a:pPr>
                      <a:r>
                        <a:rPr lang="en-US" sz="1200" b="0" i="0" u="none" strike="noStrike">
                          <a:solidFill>
                            <a:srgbClr val="1F2329"/>
                          </a:solidFill>
                          <a:latin typeface="Noto Sans SC"/>
                          <a:ea typeface="Noto Sans SC"/>
                          <a:cs typeface="Noto Sans SC"/>
                          <a:sym typeface="Noto Sans SC"/>
                        </a:rPr>
                        <a:t>Share industry thought leadership</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5"/>
                  </a:ext>
                </a:extLst>
              </a:tr>
            </a:tbl>
          </a:graphicData>
        </a:graphic>
      </p:graphicFrame>
      <p:sp>
        <p:nvSpPr>
          <p:cNvPr id="18" name="AutoShape 18"/>
          <p:cNvSpPr/>
          <p:nvPr/>
        </p:nvSpPr>
        <p:spPr>
          <a:xfrm>
            <a:off x="8509000" y="1270000"/>
            <a:ext cx="3302000" cy="5334000"/>
          </a:xfrm>
          <a:prstGeom prst="roundRect">
            <a:avLst>
              <a:gd name="adj" fmla="val 3846"/>
            </a:avLst>
          </a:prstGeom>
          <a:solidFill>
            <a:srgbClr val="FFD700">
              <a:alpha val="100000"/>
            </a:srgbClr>
          </a:solidFill>
          <a:ln w="25400" cap="flat" cmpd="sng">
            <a:noFill/>
            <a:prstDash val="solid"/>
            <a:round/>
          </a:ln>
          <a:effectLst>
            <a:outerShdw blurRad="101600" dist="508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763000" y="1651000"/>
            <a:ext cx="609600" cy="609600"/>
          </a:xfrm>
          <a:prstGeom prst="rect">
            <a:avLst/>
          </a:prstGeom>
        </p:spPr>
      </p:pic>
      <p:sp>
        <p:nvSpPr>
          <p:cNvPr id="20" name="AutoShape 20"/>
          <p:cNvSpPr/>
          <p:nvPr/>
        </p:nvSpPr>
        <p:spPr>
          <a:xfrm>
            <a:off x="8763000" y="2413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Insight</a:t>
            </a:r>
            <a:endParaRPr lang="en-US" sz="1100"/>
          </a:p>
        </p:txBody>
      </p:sp>
      <p:cxnSp>
        <p:nvCxnSpPr>
          <p:cNvPr id="21" name="Connector 21"/>
          <p:cNvCxnSpPr/>
          <p:nvPr/>
        </p:nvCxnSpPr>
        <p:spPr>
          <a:xfrm rot="-15626">
            <a:off x="8763014" y="2978150"/>
            <a:ext cx="2794000" cy="12700"/>
          </a:xfrm>
          <a:prstGeom prst="straightConnector1">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22" name="AutoShape 22"/>
          <p:cNvSpPr/>
          <p:nvPr/>
        </p:nvSpPr>
        <p:spPr>
          <a:xfrm>
            <a:off x="8763000" y="3175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333333"/>
                </a:solidFill>
                <a:latin typeface="Arial"/>
                <a:ea typeface="Arial"/>
                <a:cs typeface="Arial"/>
                <a:sym typeface="Arial"/>
              </a:rPr>
              <a:t>"Long-term networks drive opportunities. It's not just about the immediate deal, but building trust over time."</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190500"/>
            <a:ext cx="10972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Overall Learnings and Challenges</a:t>
            </a:r>
            <a:endParaRPr lang="en-US" sz="1100"/>
          </a:p>
        </p:txBody>
      </p:sp>
      <p:sp>
        <p:nvSpPr>
          <p:cNvPr id="5" name="AutoShape 5"/>
          <p:cNvSpPr/>
          <p:nvPr/>
        </p:nvSpPr>
        <p:spPr>
          <a:xfrm>
            <a:off x="609600" y="1397000"/>
            <a:ext cx="6858000" cy="1524000"/>
          </a:xfrm>
          <a:prstGeom prst="roundRect">
            <a:avLst>
              <a:gd name="adj" fmla="val 8333"/>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6034" y="1409700"/>
            <a:ext cx="406400" cy="406400"/>
          </a:xfrm>
          <a:prstGeom prst="rect">
            <a:avLst/>
          </a:prstGeom>
        </p:spPr>
      </p:pic>
      <p:sp>
        <p:nvSpPr>
          <p:cNvPr id="7" name="AutoShape 7"/>
          <p:cNvSpPr/>
          <p:nvPr/>
        </p:nvSpPr>
        <p:spPr>
          <a:xfrm>
            <a:off x="1371600" y="1397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Key Learnings</a:t>
            </a:r>
            <a:endParaRPr lang="en-US" sz="1100"/>
          </a:p>
        </p:txBody>
      </p:sp>
      <p:sp>
        <p:nvSpPr>
          <p:cNvPr id="8" name="AutoShape 8"/>
          <p:cNvSpPr/>
          <p:nvPr/>
        </p:nvSpPr>
        <p:spPr>
          <a:xfrm>
            <a:off x="889000" y="1961303"/>
            <a:ext cx="5842000" cy="76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dirty="0">
                <a:solidFill>
                  <a:srgbClr val="333333"/>
                </a:solidFill>
                <a:latin typeface="Arial"/>
                <a:ea typeface="Arial"/>
                <a:cs typeface="Arial"/>
                <a:sym typeface="Arial"/>
              </a:rPr>
              <a:t>Integrated risk assessment into pitch strategies and used data for optimization</a:t>
            </a:r>
            <a:endParaRPr lang="en-US" sz="1100" dirty="0"/>
          </a:p>
          <a:p>
            <a:pPr marL="177800" indent="-177800" algn="l">
              <a:lnSpc>
                <a:spcPct val="125000"/>
              </a:lnSpc>
              <a:buClr>
                <a:srgbClr val="333333"/>
              </a:buClr>
              <a:buChar char="•"/>
            </a:pPr>
            <a:r>
              <a:rPr lang="en-US" sz="1400" b="0" i="0" u="none" strike="noStrike" dirty="0">
                <a:solidFill>
                  <a:srgbClr val="333333"/>
                </a:solidFill>
                <a:latin typeface="Arial"/>
                <a:ea typeface="Arial"/>
                <a:cs typeface="Arial"/>
                <a:sym typeface="Arial"/>
              </a:rPr>
              <a:t>Understood tokenization's role in liquidity and how brokering fills market gaps</a:t>
            </a:r>
          </a:p>
        </p:txBody>
      </p:sp>
      <p:sp>
        <p:nvSpPr>
          <p:cNvPr id="9" name="AutoShape 9"/>
          <p:cNvSpPr/>
          <p:nvPr/>
        </p:nvSpPr>
        <p:spPr>
          <a:xfrm>
            <a:off x="609600" y="3111500"/>
            <a:ext cx="6858000" cy="1524000"/>
          </a:xfrm>
          <a:prstGeom prst="roundRect">
            <a:avLst>
              <a:gd name="adj" fmla="val 8333"/>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600" y="3302000"/>
            <a:ext cx="406400" cy="406400"/>
          </a:xfrm>
          <a:prstGeom prst="rect">
            <a:avLst/>
          </a:prstGeom>
        </p:spPr>
      </p:pic>
      <p:sp>
        <p:nvSpPr>
          <p:cNvPr id="11" name="AutoShape 11"/>
          <p:cNvSpPr/>
          <p:nvPr/>
        </p:nvSpPr>
        <p:spPr>
          <a:xfrm>
            <a:off x="1397000" y="3302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Challenges Faced</a:t>
            </a:r>
            <a:endParaRPr lang="en-US" sz="1100"/>
          </a:p>
        </p:txBody>
      </p:sp>
      <p:sp>
        <p:nvSpPr>
          <p:cNvPr id="12" name="AutoShape 12"/>
          <p:cNvSpPr/>
          <p:nvPr/>
        </p:nvSpPr>
        <p:spPr>
          <a:xfrm>
            <a:off x="863600" y="3683000"/>
            <a:ext cx="5842000" cy="76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Arial"/>
                <a:ea typeface="Arial"/>
                <a:cs typeface="Arial"/>
                <a:sym typeface="Arial"/>
              </a:rPr>
              <a:t>Balanced complex compliance requirements (MiCA/HKEX) across different jurisdictions</a:t>
            </a:r>
            <a:endParaRPr lang="en-US" sz="1100"/>
          </a:p>
          <a:p>
            <a:pPr marL="177800" indent="-177800" algn="l">
              <a:lnSpc>
                <a:spcPct val="125000"/>
              </a:lnSpc>
              <a:buClr>
                <a:srgbClr val="333333"/>
              </a:buClr>
              <a:buChar char="•"/>
            </a:pPr>
            <a:r>
              <a:rPr lang="en-US" sz="1400" b="0" i="0" u="none" strike="noStrike">
                <a:solidFill>
                  <a:srgbClr val="333333"/>
                </a:solidFill>
                <a:latin typeface="Arial"/>
                <a:ea typeface="Arial"/>
                <a:cs typeface="Arial"/>
                <a:sym typeface="Arial"/>
              </a:rPr>
              <a:t>Navigated market volatility to maintain consistent strategy execution</a:t>
            </a:r>
          </a:p>
        </p:txBody>
      </p:sp>
      <p:sp>
        <p:nvSpPr>
          <p:cNvPr id="13" name="AutoShape 13"/>
          <p:cNvSpPr/>
          <p:nvPr/>
        </p:nvSpPr>
        <p:spPr>
          <a:xfrm>
            <a:off x="609600" y="4826000"/>
            <a:ext cx="6858000" cy="1270000"/>
          </a:xfrm>
          <a:prstGeom prst="roundRect">
            <a:avLst>
              <a:gd name="adj" fmla="val 10000"/>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600" y="5016500"/>
            <a:ext cx="406400" cy="406400"/>
          </a:xfrm>
          <a:prstGeom prst="rect">
            <a:avLst/>
          </a:prstGeom>
        </p:spPr>
      </p:pic>
      <p:sp>
        <p:nvSpPr>
          <p:cNvPr id="15" name="AutoShape 15"/>
          <p:cNvSpPr/>
          <p:nvPr/>
        </p:nvSpPr>
        <p:spPr>
          <a:xfrm>
            <a:off x="1397000" y="50165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Arial"/>
                <a:ea typeface="Arial"/>
                <a:cs typeface="Arial"/>
                <a:sym typeface="Arial"/>
              </a:rPr>
              <a:t>Personal Growth</a:t>
            </a:r>
            <a:endParaRPr lang="en-US" sz="1100"/>
          </a:p>
        </p:txBody>
      </p:sp>
      <p:sp>
        <p:nvSpPr>
          <p:cNvPr id="16" name="AutoShape 16"/>
          <p:cNvSpPr/>
          <p:nvPr/>
        </p:nvSpPr>
        <p:spPr>
          <a:xfrm>
            <a:off x="863600" y="5397500"/>
            <a:ext cx="5842000" cy="50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dirty="0">
                <a:solidFill>
                  <a:srgbClr val="333333"/>
                </a:solidFill>
                <a:latin typeface="Arial"/>
                <a:ea typeface="Arial"/>
                <a:cs typeface="Arial"/>
                <a:sym typeface="Arial"/>
              </a:rPr>
              <a:t>Transitioned from pure research analysis to formulating actionable business strategies</a:t>
            </a:r>
            <a:endParaRPr lang="en-US" sz="1100" dirty="0"/>
          </a:p>
        </p:txBody>
      </p:sp>
      <p:sp>
        <p:nvSpPr>
          <p:cNvPr id="17" name="AutoShape 17"/>
          <p:cNvSpPr/>
          <p:nvPr/>
        </p:nvSpPr>
        <p:spPr>
          <a:xfrm>
            <a:off x="7772400" y="1397000"/>
            <a:ext cx="3810000" cy="4699000"/>
          </a:xfrm>
          <a:prstGeom prst="roundRect">
            <a:avLst>
              <a:gd name="adj" fmla="val 3333"/>
            </a:avLst>
          </a:prstGeom>
          <a:solidFill>
            <a:srgbClr val="FFD700">
              <a:alpha val="100000"/>
            </a:srgbClr>
          </a:solidFill>
          <a:ln w="25400" cap="flat" cmpd="sng">
            <a:noFill/>
            <a:prstDash val="solid"/>
            <a:round/>
          </a:ln>
          <a:effectLst>
            <a:outerShdw blurRad="190500" dist="76200" dir="2700000" algn="tl" rotWithShape="0">
              <a:srgbClr val="000000">
                <a:alpha val="15000"/>
              </a:srgbClr>
            </a:outerShdw>
          </a:effectLst>
        </p:spPr>
        <p:txBody>
          <a:bodyPr vert="horz" wrap="square" lIns="63500" tIns="63500" rIns="63500" bIns="63500" rtlCol="0" anchor="ctr"/>
          <a:lstStyle/>
          <a:p>
            <a:pPr algn="ctr">
              <a:defRPr/>
            </a:pPr>
            <a:endParaRPr dirty="0"/>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26400" y="1651000"/>
            <a:ext cx="609600" cy="609600"/>
          </a:xfrm>
          <a:prstGeom prst="rect">
            <a:avLst/>
          </a:prstGeom>
        </p:spPr>
      </p:pic>
      <p:sp>
        <p:nvSpPr>
          <p:cNvPr id="19" name="AutoShape 19"/>
          <p:cNvSpPr/>
          <p:nvPr/>
        </p:nvSpPr>
        <p:spPr>
          <a:xfrm>
            <a:off x="8026400" y="2286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Insight</a:t>
            </a:r>
            <a:endParaRPr lang="en-US" sz="1100"/>
          </a:p>
        </p:txBody>
      </p:sp>
      <p:cxnSp>
        <p:nvCxnSpPr>
          <p:cNvPr id="20" name="Connector 20"/>
          <p:cNvCxnSpPr/>
          <p:nvPr/>
        </p:nvCxnSpPr>
        <p:spPr>
          <a:xfrm rot="-13222">
            <a:off x="8026412" y="2787650"/>
            <a:ext cx="3302000" cy="12700"/>
          </a:xfrm>
          <a:prstGeom prst="straightConnector1">
            <a:avLst/>
          </a:prstGeom>
          <a:solidFill>
            <a:srgbClr val="DEE0E3">
              <a:alpha val="100000"/>
            </a:srgbClr>
          </a:solidFill>
          <a:ln w="25400" cap="flat" cmpd="sng">
            <a:solidFill>
              <a:srgbClr val="003366">
                <a:alpha val="30000"/>
              </a:srgbClr>
            </a:solidFill>
            <a:prstDash val="solid"/>
            <a:round/>
            <a:headEnd type="none" w="lg" len="lg"/>
            <a:tailEnd type="none" w="lg" len="lg"/>
          </a:ln>
        </p:spPr>
      </p:cxnSp>
      <p:sp>
        <p:nvSpPr>
          <p:cNvPr id="21" name="AutoShape 21"/>
          <p:cNvSpPr/>
          <p:nvPr/>
        </p:nvSpPr>
        <p:spPr>
          <a:xfrm>
            <a:off x="8026400" y="2984500"/>
            <a:ext cx="3302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GB" sz="1600" dirty="0">
                <a:solidFill>
                  <a:srgbClr val="1E1E1E"/>
                </a:solidFill>
              </a:rPr>
              <a:t>Gain a deeper understanding and exposure to the finance Industry and its different sectors through the research of different webpages and finance news.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12248" b="12248"/>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1016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905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a:ea typeface="Arial"/>
                <a:cs typeface="Arial"/>
                <a:sym typeface="Arial"/>
              </a:rPr>
              <a:t>Growth Strategy Recommendations</a:t>
            </a:r>
            <a:endParaRPr lang="en-US" sz="1100"/>
          </a:p>
        </p:txBody>
      </p:sp>
      <p:sp>
        <p:nvSpPr>
          <p:cNvPr id="6" name="AutoShape 6"/>
          <p:cNvSpPr/>
          <p:nvPr/>
        </p:nvSpPr>
        <p:spPr>
          <a:xfrm>
            <a:off x="508000" y="1397000"/>
            <a:ext cx="6858000" cy="711200"/>
          </a:xfrm>
          <a:prstGeom prst="roundRect">
            <a:avLst>
              <a:gd name="adj" fmla="val 17857"/>
            </a:avLst>
          </a:prstGeom>
          <a:solidFill>
            <a:srgbClr val="FFFFFF">
              <a:alpha val="90000"/>
            </a:srgbClr>
          </a:solidFill>
          <a:ln cap="flat" cmpd="sng">
            <a:solidFill>
              <a:srgbClr val="E6CFCF">
                <a:alpha val="90000"/>
              </a:srgbClr>
            </a:solidFill>
            <a:prstDash val="solid"/>
            <a:round/>
          </a:ln>
          <a:effectLst>
            <a:outerShdw blurRad="63500" dist="381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1200" y="1600200"/>
            <a:ext cx="304800" cy="304800"/>
          </a:xfrm>
          <a:prstGeom prst="rect">
            <a:avLst/>
          </a:prstGeom>
        </p:spPr>
      </p:pic>
      <p:sp>
        <p:nvSpPr>
          <p:cNvPr id="8" name="AutoShape 8"/>
          <p:cNvSpPr/>
          <p:nvPr/>
        </p:nvSpPr>
        <p:spPr>
          <a:xfrm>
            <a:off x="1143000" y="15621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Arial"/>
                <a:ea typeface="Arial"/>
                <a:cs typeface="Arial"/>
                <a:sym typeface="Arial"/>
              </a:rPr>
              <a:t>Launch tokenized private debt for hotels</a:t>
            </a:r>
            <a:endParaRPr lang="en-US" sz="1100"/>
          </a:p>
        </p:txBody>
      </p:sp>
      <p:sp>
        <p:nvSpPr>
          <p:cNvPr id="9" name="AutoShape 9"/>
          <p:cNvSpPr/>
          <p:nvPr/>
        </p:nvSpPr>
        <p:spPr>
          <a:xfrm>
            <a:off x="508000" y="2235200"/>
            <a:ext cx="6858000" cy="711200"/>
          </a:xfrm>
          <a:prstGeom prst="roundRect">
            <a:avLst>
              <a:gd name="adj" fmla="val 17857"/>
            </a:avLst>
          </a:prstGeom>
          <a:solidFill>
            <a:srgbClr val="FFFFFF">
              <a:alpha val="90000"/>
            </a:srgbClr>
          </a:solidFill>
          <a:ln cap="flat" cmpd="sng">
            <a:solidFill>
              <a:srgbClr val="E6CFCF">
                <a:alpha val="90000"/>
              </a:srgbClr>
            </a:solidFill>
            <a:prstDash val="solid"/>
            <a:round/>
          </a:ln>
          <a:effectLst>
            <a:outerShdw blurRad="63500" dist="381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1200" y="2438400"/>
            <a:ext cx="304800" cy="304800"/>
          </a:xfrm>
          <a:prstGeom prst="rect">
            <a:avLst/>
          </a:prstGeom>
        </p:spPr>
      </p:pic>
      <p:sp>
        <p:nvSpPr>
          <p:cNvPr id="11" name="AutoShape 11"/>
          <p:cNvSpPr/>
          <p:nvPr/>
        </p:nvSpPr>
        <p:spPr>
          <a:xfrm>
            <a:off x="1143000" y="24003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Arial"/>
                <a:ea typeface="Arial"/>
                <a:cs typeface="Arial"/>
                <a:sym typeface="Arial"/>
              </a:rPr>
              <a:t>Hybrid structured products with AMCs</a:t>
            </a:r>
            <a:endParaRPr lang="en-US" sz="1100"/>
          </a:p>
        </p:txBody>
      </p:sp>
      <p:sp>
        <p:nvSpPr>
          <p:cNvPr id="12" name="AutoShape 12"/>
          <p:cNvSpPr/>
          <p:nvPr/>
        </p:nvSpPr>
        <p:spPr>
          <a:xfrm>
            <a:off x="508000" y="3073400"/>
            <a:ext cx="6858000" cy="711200"/>
          </a:xfrm>
          <a:prstGeom prst="roundRect">
            <a:avLst>
              <a:gd name="adj" fmla="val 17857"/>
            </a:avLst>
          </a:prstGeom>
          <a:solidFill>
            <a:srgbClr val="FFFFFF">
              <a:alpha val="90000"/>
            </a:srgbClr>
          </a:solidFill>
          <a:ln cap="flat" cmpd="sng">
            <a:solidFill>
              <a:srgbClr val="E6CFCF">
                <a:alpha val="90000"/>
              </a:srgbClr>
            </a:solidFill>
            <a:prstDash val="solid"/>
            <a:round/>
          </a:ln>
          <a:effectLst>
            <a:outerShdw blurRad="63500" dist="381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1200" y="3276600"/>
            <a:ext cx="304800" cy="304800"/>
          </a:xfrm>
          <a:prstGeom prst="rect">
            <a:avLst/>
          </a:prstGeom>
        </p:spPr>
      </p:pic>
      <p:sp>
        <p:nvSpPr>
          <p:cNvPr id="14" name="AutoShape 14"/>
          <p:cNvSpPr/>
          <p:nvPr/>
        </p:nvSpPr>
        <p:spPr>
          <a:xfrm>
            <a:off x="1143000" y="32385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33333"/>
                </a:solidFill>
                <a:latin typeface="Arial"/>
                <a:ea typeface="Arial"/>
                <a:cs typeface="Arial"/>
                <a:sym typeface="Arial"/>
              </a:rPr>
              <a:t>Expand </a:t>
            </a:r>
            <a:r>
              <a:rPr lang="en-GB" sz="1600" b="0" i="0" u="none" strike="noStrike" dirty="0">
                <a:solidFill>
                  <a:srgbClr val="333333"/>
                </a:solidFill>
                <a:latin typeface="Arial"/>
                <a:ea typeface="Arial"/>
                <a:cs typeface="Arial"/>
                <a:sym typeface="Arial"/>
              </a:rPr>
              <a:t>Asia</a:t>
            </a:r>
            <a:r>
              <a:rPr lang="en-US" sz="1600" b="0" i="0" u="none" strike="noStrike" dirty="0">
                <a:solidFill>
                  <a:srgbClr val="333333"/>
                </a:solidFill>
                <a:latin typeface="Arial"/>
                <a:ea typeface="Arial"/>
                <a:cs typeface="Arial"/>
                <a:sym typeface="Arial"/>
              </a:rPr>
              <a:t> brokering partnerships</a:t>
            </a:r>
            <a:endParaRPr lang="en-US" sz="1100" dirty="0"/>
          </a:p>
        </p:txBody>
      </p:sp>
      <p:sp>
        <p:nvSpPr>
          <p:cNvPr id="15" name="AutoShape 15"/>
          <p:cNvSpPr/>
          <p:nvPr/>
        </p:nvSpPr>
        <p:spPr>
          <a:xfrm>
            <a:off x="508000" y="3911600"/>
            <a:ext cx="6858000" cy="711200"/>
          </a:xfrm>
          <a:prstGeom prst="roundRect">
            <a:avLst>
              <a:gd name="adj" fmla="val 17857"/>
            </a:avLst>
          </a:prstGeom>
          <a:solidFill>
            <a:srgbClr val="FFFFFF">
              <a:alpha val="90000"/>
            </a:srgbClr>
          </a:solidFill>
          <a:ln cap="flat" cmpd="sng">
            <a:solidFill>
              <a:srgbClr val="E6CFCF">
                <a:alpha val="90000"/>
              </a:srgbClr>
            </a:solidFill>
            <a:prstDash val="solid"/>
            <a:round/>
          </a:ln>
          <a:effectLst>
            <a:outerShdw blurRad="63500" dist="381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11200" y="4114800"/>
            <a:ext cx="304800" cy="304800"/>
          </a:xfrm>
          <a:prstGeom prst="rect">
            <a:avLst/>
          </a:prstGeom>
        </p:spPr>
      </p:pic>
      <p:sp>
        <p:nvSpPr>
          <p:cNvPr id="17" name="AutoShape 17"/>
          <p:cNvSpPr/>
          <p:nvPr/>
        </p:nvSpPr>
        <p:spPr>
          <a:xfrm>
            <a:off x="1143000" y="40767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Arial"/>
                <a:ea typeface="Arial"/>
                <a:cs typeface="Arial"/>
                <a:sym typeface="Arial"/>
              </a:rPr>
              <a:t>Use KPIs for ESG focus</a:t>
            </a:r>
            <a:endParaRPr lang="en-US" sz="1100"/>
          </a:p>
        </p:txBody>
      </p:sp>
      <p:sp>
        <p:nvSpPr>
          <p:cNvPr id="18" name="AutoShape 18"/>
          <p:cNvSpPr/>
          <p:nvPr/>
        </p:nvSpPr>
        <p:spPr>
          <a:xfrm>
            <a:off x="508000" y="4749800"/>
            <a:ext cx="6858000" cy="711200"/>
          </a:xfrm>
          <a:prstGeom prst="roundRect">
            <a:avLst>
              <a:gd name="adj" fmla="val 17857"/>
            </a:avLst>
          </a:prstGeom>
          <a:solidFill>
            <a:srgbClr val="FFFFFF">
              <a:alpha val="90000"/>
            </a:srgbClr>
          </a:solidFill>
          <a:ln cap="flat" cmpd="sng">
            <a:solidFill>
              <a:srgbClr val="E6CFCF">
                <a:alpha val="90000"/>
              </a:srgbClr>
            </a:solidFill>
            <a:prstDash val="solid"/>
            <a:round/>
          </a:ln>
          <a:effectLst>
            <a:outerShdw blurRad="63500" dist="381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1200" y="4953000"/>
            <a:ext cx="304800" cy="304800"/>
          </a:xfrm>
          <a:prstGeom prst="rect">
            <a:avLst/>
          </a:prstGeom>
        </p:spPr>
      </p:pic>
      <p:sp>
        <p:nvSpPr>
          <p:cNvPr id="20" name="AutoShape 20"/>
          <p:cNvSpPr/>
          <p:nvPr/>
        </p:nvSpPr>
        <p:spPr>
          <a:xfrm>
            <a:off x="1143000" y="49149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Arial"/>
                <a:ea typeface="Arial"/>
                <a:cs typeface="Arial"/>
                <a:sym typeface="Arial"/>
              </a:rPr>
              <a:t>Target $100M AUM via family offices</a:t>
            </a:r>
            <a:endParaRPr lang="en-US" sz="1100"/>
          </a:p>
        </p:txBody>
      </p:sp>
      <p:sp>
        <p:nvSpPr>
          <p:cNvPr id="21" name="AutoShape 21"/>
          <p:cNvSpPr/>
          <p:nvPr/>
        </p:nvSpPr>
        <p:spPr>
          <a:xfrm>
            <a:off x="7620000" y="1397000"/>
            <a:ext cx="3810000" cy="4064000"/>
          </a:xfrm>
          <a:prstGeom prst="roundRect">
            <a:avLst>
              <a:gd name="adj" fmla="val 3333"/>
            </a:avLst>
          </a:prstGeom>
          <a:solidFill>
            <a:srgbClr val="FFD700">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74000" y="1651000"/>
            <a:ext cx="406400" cy="406400"/>
          </a:xfrm>
          <a:prstGeom prst="rect">
            <a:avLst/>
          </a:prstGeom>
        </p:spPr>
      </p:pic>
      <p:sp>
        <p:nvSpPr>
          <p:cNvPr id="23" name="AutoShape 23"/>
          <p:cNvSpPr/>
          <p:nvPr/>
        </p:nvSpPr>
        <p:spPr>
          <a:xfrm>
            <a:off x="8382000" y="1651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Arial"/>
                <a:ea typeface="Arial"/>
                <a:cs typeface="Arial"/>
                <a:sym typeface="Arial"/>
              </a:rPr>
              <a:t>KEY PROJECTIONS</a:t>
            </a:r>
            <a:endParaRPr lang="en-US" sz="1100"/>
          </a:p>
        </p:txBody>
      </p:sp>
      <p:cxnSp>
        <p:nvCxnSpPr>
          <p:cNvPr id="24" name="Connector 24"/>
          <p:cNvCxnSpPr/>
          <p:nvPr/>
        </p:nvCxnSpPr>
        <p:spPr>
          <a:xfrm rot="-13222">
            <a:off x="7874012" y="2089150"/>
            <a:ext cx="3302000"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25" name="AutoShape 25"/>
          <p:cNvSpPr/>
          <p:nvPr/>
        </p:nvSpPr>
        <p:spPr>
          <a:xfrm>
            <a:off x="7874000" y="2286000"/>
            <a:ext cx="330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Noto Sans SC"/>
                <a:ea typeface="Noto Sans SC"/>
                <a:cs typeface="Noto Sans SC"/>
                <a:sym typeface="Noto Sans SC"/>
              </a:rPr>
              <a:t>2026 Revenue Growth</a:t>
            </a:r>
            <a:endParaRPr lang="en-US" sz="1100"/>
          </a:p>
          <a:p>
            <a:pPr indent="0" algn="l">
              <a:lnSpc>
                <a:spcPct val="125000"/>
              </a:lnSpc>
            </a:pPr>
            <a:r>
              <a:rPr lang="en-US" sz="3600" b="1" i="0" u="none" strike="noStrike">
                <a:solidFill>
                  <a:srgbClr val="003366"/>
                </a:solidFill>
                <a:latin typeface="Arial"/>
                <a:ea typeface="Arial"/>
                <a:cs typeface="Arial"/>
                <a:sym typeface="Arial"/>
              </a:rPr>
              <a:t>20%</a:t>
            </a:r>
          </a:p>
        </p:txBody>
      </p:sp>
      <p:sp>
        <p:nvSpPr>
          <p:cNvPr id="26" name="AutoShape 26"/>
          <p:cNvSpPr/>
          <p:nvPr/>
        </p:nvSpPr>
        <p:spPr>
          <a:xfrm>
            <a:off x="7874000" y="3429000"/>
            <a:ext cx="330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Noto Sans SC"/>
                <a:ea typeface="Noto Sans SC"/>
                <a:cs typeface="Noto Sans SC"/>
                <a:sym typeface="Noto Sans SC"/>
              </a:rPr>
              <a:t>Market Position</a:t>
            </a:r>
            <a:endParaRPr lang="en-US" sz="1100"/>
          </a:p>
          <a:p>
            <a:pPr indent="0" algn="l">
              <a:lnSpc>
                <a:spcPct val="125000"/>
              </a:lnSpc>
            </a:pPr>
            <a:r>
              <a:rPr lang="en-US" sz="2400" b="1" i="0" u="none" strike="noStrike">
                <a:solidFill>
                  <a:srgbClr val="003366"/>
                </a:solidFill>
                <a:latin typeface="Arial"/>
                <a:ea typeface="Arial"/>
                <a:cs typeface="Arial"/>
                <a:sym typeface="Arial"/>
              </a:rPr>
              <a:t>Asia Leadership</a:t>
            </a:r>
          </a:p>
        </p:txBody>
      </p:sp>
      <p:pic>
        <p:nvPicPr>
          <p:cNvPr id="27" name="Picture 27"/>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08000" y="5842000"/>
            <a:ext cx="304800" cy="304800"/>
          </a:xfrm>
          <a:prstGeom prst="rect">
            <a:avLst/>
          </a:prstGeom>
        </p:spPr>
      </p:pic>
      <p:sp>
        <p:nvSpPr>
          <p:cNvPr id="28" name="AutoShape 28"/>
          <p:cNvSpPr/>
          <p:nvPr/>
        </p:nvSpPr>
        <p:spPr>
          <a:xfrm>
            <a:off x="889000" y="5842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03366"/>
                </a:solidFill>
                <a:latin typeface="Arial"/>
                <a:ea typeface="Arial"/>
                <a:cs typeface="Arial"/>
                <a:sym typeface="Arial"/>
              </a:rPr>
              <a:t>AxTrade Capital Ltd</a:t>
            </a:r>
            <a:endParaRPr lang="en-US" sz="1100"/>
          </a:p>
        </p:txBody>
      </p:sp>
      <p:sp>
        <p:nvSpPr>
          <p:cNvPr id="29" name="AutoShape 29"/>
          <p:cNvSpPr/>
          <p:nvPr/>
        </p:nvSpPr>
        <p:spPr>
          <a:xfrm>
            <a:off x="9652000" y="5791200"/>
            <a:ext cx="457200" cy="457200"/>
          </a:xfrm>
          <a:prstGeom prst="ellipse">
            <a:avLst/>
          </a:prstGeom>
          <a:solidFill>
            <a:srgbClr val="FFFFFF">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53600" y="5892800"/>
            <a:ext cx="254000" cy="254000"/>
          </a:xfrm>
          <a:prstGeom prst="rect">
            <a:avLst/>
          </a:prstGeom>
        </p:spPr>
      </p:pic>
      <p:sp>
        <p:nvSpPr>
          <p:cNvPr id="31" name="AutoShape 31"/>
          <p:cNvSpPr/>
          <p:nvPr/>
        </p:nvSpPr>
        <p:spPr>
          <a:xfrm>
            <a:off x="10160000" y="5842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808080"/>
                </a:solidFill>
                <a:latin typeface="Arial"/>
                <a:ea typeface="Arial"/>
                <a:cs typeface="Arial"/>
                <a:sym typeface="Arial"/>
              </a:rPr>
              <a:t>HK Careers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0</HiddenSlide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CHAN, Cheuk Him</cp:lastModifiedBy>
  <cp:revision>2</cp:revision>
  <dcterms:modified xsi:type="dcterms:W3CDTF">2026-01-31T15:53:01Z</dcterms:modified>
</cp:coreProperties>
</file>